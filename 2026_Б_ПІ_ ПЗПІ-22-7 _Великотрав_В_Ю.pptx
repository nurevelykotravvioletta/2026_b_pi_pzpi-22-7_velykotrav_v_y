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6683" y="769937"/>
            <a:ext cx="975360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805083" y="2438400"/>
            <a:ext cx="4775201"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78981" y="6232199"/>
            <a:ext cx="258620" cy="248302"/>
          </a:xfrm>
          <a:prstGeom prst="rect">
            <a:avLst/>
          </a:prstGeom>
          <a:ln w="12700">
            <a:miter lim="400000"/>
          </a:ln>
        </p:spPr>
        <p:txBody>
          <a:bodyPr wrap="none" lIns="45718" tIns="45718" rIns="45718" bIns="45718"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8.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7.png"/><Relationship Id="rId5" Type="http://schemas.openxmlformats.org/officeDocument/2006/relationships/image" Target="../media/image39.png"/><Relationship Id="rId6"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Text 0"/>
          <p:cNvSpPr txBox="1"/>
          <p:nvPr/>
        </p:nvSpPr>
        <p:spPr>
          <a:xfrm>
            <a:off x="822960" y="556699"/>
            <a:ext cx="10424160" cy="2581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spc="117" sz="1300">
                <a:solidFill>
                  <a:srgbClr val="9A9A9A"/>
                </a:solidFill>
              </a:defRPr>
            </a:lvl1pPr>
          </a:lstStyle>
          <a:p>
            <a:pPr/>
            <a:r>
              <a:t>ХНУРЕ · Кафедра програмної інженерії · Харків, 2026</a:t>
            </a:r>
          </a:p>
        </p:txBody>
      </p:sp>
      <p:pic>
        <p:nvPicPr>
          <p:cNvPr id="21" name="Image 0" descr="Image 0"/>
          <p:cNvPicPr>
            <a:picLocks noChangeAspect="1"/>
          </p:cNvPicPr>
          <p:nvPr/>
        </p:nvPicPr>
        <p:blipFill>
          <a:blip r:embed="rId2">
            <a:extLst/>
          </a:blip>
          <a:stretch>
            <a:fillRect/>
          </a:stretch>
        </p:blipFill>
        <p:spPr>
          <a:xfrm>
            <a:off x="777240" y="1737360"/>
            <a:ext cx="731520" cy="731524"/>
          </a:xfrm>
          <a:prstGeom prst="rect">
            <a:avLst/>
          </a:prstGeom>
          <a:ln w="12700">
            <a:miter lim="400000"/>
          </a:ln>
        </p:spPr>
      </p:pic>
      <p:sp>
        <p:nvSpPr>
          <p:cNvPr id="22" name="Text 1"/>
          <p:cNvSpPr txBox="1"/>
          <p:nvPr/>
        </p:nvSpPr>
        <p:spPr>
          <a:xfrm>
            <a:off x="822960" y="2752924"/>
            <a:ext cx="9966960" cy="3005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114" sz="1600">
                <a:solidFill>
                  <a:srgbClr val="8456F0"/>
                </a:solidFill>
              </a:defRPr>
            </a:lvl1pPr>
          </a:lstStyle>
          <a:p>
            <a:pPr/>
            <a:r>
              <a:t>Кваліфікаційна робота бакалавра</a:t>
            </a:r>
          </a:p>
        </p:txBody>
      </p:sp>
      <p:sp>
        <p:nvSpPr>
          <p:cNvPr id="23" name="Text 2"/>
          <p:cNvSpPr txBox="1"/>
          <p:nvPr/>
        </p:nvSpPr>
        <p:spPr>
          <a:xfrm>
            <a:off x="822960" y="3150741"/>
            <a:ext cx="10424160" cy="137947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nSpc>
                <a:spcPct val="103000"/>
              </a:lnSpc>
              <a:defRPr b="1" sz="4500">
                <a:solidFill>
                  <a:srgbClr val="1F1F1F"/>
                </a:solidFill>
              </a:defRPr>
            </a:pPr>
            <a:r>
              <a:t>Веб-платформа для адопції</a:t>
            </a:r>
          </a:p>
          <a:p>
            <a:pPr>
              <a:lnSpc>
                <a:spcPct val="103000"/>
              </a:lnSpc>
              <a:defRPr b="1" sz="4500">
                <a:solidFill>
                  <a:srgbClr val="1F1F1F"/>
                </a:solidFill>
              </a:defRPr>
            </a:pPr>
            <a:r>
              <a:t>тварин з притулків</a:t>
            </a:r>
          </a:p>
        </p:txBody>
      </p:sp>
      <p:sp>
        <p:nvSpPr>
          <p:cNvPr id="24" name="Shape 4"/>
          <p:cNvSpPr/>
          <p:nvPr/>
        </p:nvSpPr>
        <p:spPr>
          <a:xfrm>
            <a:off x="778762" y="5377417"/>
            <a:ext cx="10634475" cy="1"/>
          </a:xfrm>
          <a:prstGeom prst="line">
            <a:avLst/>
          </a:prstGeom>
          <a:ln w="12700">
            <a:solidFill>
              <a:srgbClr val="E6E0F5"/>
            </a:solidFill>
          </a:ln>
        </p:spPr>
        <p:txBody>
          <a:bodyPr lIns="45718" tIns="45718" rIns="45718" bIns="45718"/>
          <a:lstStyle/>
          <a:p>
            <a:pPr/>
          </a:p>
        </p:txBody>
      </p:sp>
      <p:sp>
        <p:nvSpPr>
          <p:cNvPr id="25" name="Text 5"/>
          <p:cNvSpPr txBox="1"/>
          <p:nvPr/>
        </p:nvSpPr>
        <p:spPr>
          <a:xfrm>
            <a:off x="777239" y="5939606"/>
            <a:ext cx="484095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600">
                <a:solidFill>
                  <a:srgbClr val="5E5E5E"/>
                </a:solidFill>
              </a:defRPr>
            </a:pPr>
            <a:r>
              <a:t>Виконала:  </a:t>
            </a:r>
            <a:r>
              <a:rPr b="1">
                <a:solidFill>
                  <a:srgbClr val="1F1F1F"/>
                </a:solidFill>
              </a:rPr>
              <a:t>Великотрав Віолетта Юріївна, гр. ПЗПІ-22-7</a:t>
            </a:r>
          </a:p>
        </p:txBody>
      </p:sp>
      <p:sp>
        <p:nvSpPr>
          <p:cNvPr id="26" name="Text 6"/>
          <p:cNvSpPr txBox="1"/>
          <p:nvPr/>
        </p:nvSpPr>
        <p:spPr>
          <a:xfrm>
            <a:off x="7562015" y="5939606"/>
            <a:ext cx="4127518"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600">
                <a:solidFill>
                  <a:srgbClr val="5E5E5E"/>
                </a:solidFill>
              </a:defRPr>
            </a:pPr>
            <a:r>
              <a:t>Керівник:  </a:t>
            </a:r>
            <a:r>
              <a:rPr b="1">
                <a:solidFill>
                  <a:srgbClr val="1F1F1F"/>
                </a:solidFill>
              </a:rPr>
              <a:t>ст. викл. кафедри ПІ Ірина АГЕКЯН</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8" name="Image 0" descr="Image 0"/>
          <p:cNvPicPr>
            <a:picLocks noChangeAspect="1"/>
          </p:cNvPicPr>
          <p:nvPr/>
        </p:nvPicPr>
        <p:blipFill>
          <a:blip r:embed="rId2">
            <a:extLst/>
          </a:blip>
          <a:stretch>
            <a:fillRect/>
          </a:stretch>
        </p:blipFill>
        <p:spPr>
          <a:xfrm>
            <a:off x="777240" y="502919"/>
            <a:ext cx="329188" cy="329188"/>
          </a:xfrm>
          <a:prstGeom prst="rect">
            <a:avLst/>
          </a:prstGeom>
          <a:ln w="12700">
            <a:miter lim="400000"/>
          </a:ln>
        </p:spPr>
      </p:pic>
      <p:sp>
        <p:nvSpPr>
          <p:cNvPr id="29" name="Text 0"/>
          <p:cNvSpPr txBox="1"/>
          <p:nvPr/>
        </p:nvSpPr>
        <p:spPr>
          <a:xfrm>
            <a:off x="1252727" y="505697"/>
            <a:ext cx="1051560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1F1F"/>
                </a:solidFill>
              </a:defRPr>
            </a:lvl1pPr>
          </a:lstStyle>
          <a:p>
            <a:pPr/>
            <a:r>
              <a:t>Актуальність та проблематика</a:t>
            </a:r>
          </a:p>
        </p:txBody>
      </p:sp>
      <p:sp>
        <p:nvSpPr>
          <p:cNvPr id="30" name="Shape 1"/>
          <p:cNvSpPr/>
          <p:nvPr/>
        </p:nvSpPr>
        <p:spPr>
          <a:xfrm>
            <a:off x="777240" y="1078991"/>
            <a:ext cx="10634472" cy="1"/>
          </a:xfrm>
          <a:prstGeom prst="line">
            <a:avLst/>
          </a:prstGeom>
          <a:ln w="12700">
            <a:solidFill>
              <a:srgbClr val="E6E0F5"/>
            </a:solidFill>
          </a:ln>
        </p:spPr>
        <p:txBody>
          <a:bodyPr lIns="45718" tIns="45718" rIns="45718" bIns="45718"/>
          <a:lstStyle/>
          <a:p>
            <a:pPr/>
          </a:p>
        </p:txBody>
      </p:sp>
      <p:sp>
        <p:nvSpPr>
          <p:cNvPr id="31"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2</a:t>
            </a:r>
          </a:p>
        </p:txBody>
      </p:sp>
      <p:sp>
        <p:nvSpPr>
          <p:cNvPr id="32" name="Text 3"/>
          <p:cNvSpPr txBox="1"/>
          <p:nvPr/>
        </p:nvSpPr>
        <p:spPr>
          <a:xfrm>
            <a:off x="822959" y="1326197"/>
            <a:ext cx="10515601" cy="118808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20000"/>
              </a:lnSpc>
              <a:defRPr sz="1600">
                <a:solidFill>
                  <a:srgbClr val="1F1F1F"/>
                </a:solidFill>
              </a:defRPr>
            </a:lvl1pPr>
          </a:lstStyle>
          <a:p>
            <a:pPr/>
            <a:r>
              <a:t>Проблема безпритульних тварин залишається гострою соціальною проблемою. Щороку багато тварин потрапляє до притулків, яким важко знаходити для них нових власників, а люди не мають зручного доступу до актуальної інформації. Цифрові платформи допомагають налагодити ефективну взаємодію між притулками та тими, хто бажає взяти тварину додому.</a:t>
            </a:r>
          </a:p>
        </p:txBody>
      </p:sp>
      <p:sp>
        <p:nvSpPr>
          <p:cNvPr id="33" name="Text 4"/>
          <p:cNvSpPr txBox="1"/>
          <p:nvPr/>
        </p:nvSpPr>
        <p:spPr>
          <a:xfrm>
            <a:off x="786381" y="3121000"/>
            <a:ext cx="5486406"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35" sz="1300">
                <a:solidFill>
                  <a:srgbClr val="5E5E5E"/>
                </a:solidFill>
              </a:defRPr>
            </a:lvl1pPr>
          </a:lstStyle>
          <a:p>
            <a:pPr/>
            <a:r>
              <a:t>ОСНОВНІ ПРОБЛЕМИ ІСНУЮЧИХ РІШЕНЬ</a:t>
            </a:r>
          </a:p>
        </p:txBody>
      </p:sp>
      <p:pic>
        <p:nvPicPr>
          <p:cNvPr id="34" name="Image 1" descr="Image 1"/>
          <p:cNvPicPr>
            <a:picLocks noChangeAspect="1"/>
          </p:cNvPicPr>
          <p:nvPr/>
        </p:nvPicPr>
        <p:blipFill>
          <a:blip r:embed="rId2">
            <a:extLst/>
          </a:blip>
          <a:stretch>
            <a:fillRect/>
          </a:stretch>
        </p:blipFill>
        <p:spPr>
          <a:xfrm>
            <a:off x="786383" y="3460413"/>
            <a:ext cx="182884" cy="182884"/>
          </a:xfrm>
          <a:prstGeom prst="rect">
            <a:avLst/>
          </a:prstGeom>
          <a:ln w="12700">
            <a:miter lim="400000"/>
          </a:ln>
        </p:spPr>
      </p:pic>
      <p:sp>
        <p:nvSpPr>
          <p:cNvPr id="35" name="Text 5"/>
          <p:cNvSpPr txBox="1"/>
          <p:nvPr/>
        </p:nvSpPr>
        <p:spPr>
          <a:xfrm>
            <a:off x="1133854" y="3467358"/>
            <a:ext cx="10241283" cy="47988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8000"/>
              </a:lnSpc>
              <a:defRPr b="1" sz="1600">
                <a:solidFill>
                  <a:srgbClr val="1F1F1F"/>
                </a:solidFill>
              </a:defRPr>
            </a:pPr>
            <a:r>
              <a:t>Розпорошеність даних — </a:t>
            </a:r>
            <a:r>
              <a:rPr b="0">
                <a:solidFill>
                  <a:srgbClr val="5E5E5E"/>
                </a:solidFill>
              </a:rPr>
              <a:t>Інформація про тварин розміщується в соцмережах і на різних ресурсах без єдиного стандарту, через що користувачам складно швидко знайти потрібні дані.</a:t>
            </a:r>
          </a:p>
        </p:txBody>
      </p:sp>
      <p:pic>
        <p:nvPicPr>
          <p:cNvPr id="36" name="Image 2" descr="Image 2"/>
          <p:cNvPicPr>
            <a:picLocks noChangeAspect="1"/>
          </p:cNvPicPr>
          <p:nvPr/>
        </p:nvPicPr>
        <p:blipFill>
          <a:blip r:embed="rId2">
            <a:extLst/>
          </a:blip>
          <a:stretch>
            <a:fillRect/>
          </a:stretch>
        </p:blipFill>
        <p:spPr>
          <a:xfrm>
            <a:off x="786383" y="4210220"/>
            <a:ext cx="182884" cy="182884"/>
          </a:xfrm>
          <a:prstGeom prst="rect">
            <a:avLst/>
          </a:prstGeom>
          <a:ln w="12700">
            <a:miter lim="400000"/>
          </a:ln>
        </p:spPr>
      </p:pic>
      <p:sp>
        <p:nvSpPr>
          <p:cNvPr id="37" name="Text 6"/>
          <p:cNvSpPr txBox="1"/>
          <p:nvPr/>
        </p:nvSpPr>
        <p:spPr>
          <a:xfrm>
            <a:off x="1133854" y="4217167"/>
            <a:ext cx="10241283" cy="47988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8000"/>
              </a:lnSpc>
              <a:defRPr b="1" sz="1600">
                <a:solidFill>
                  <a:srgbClr val="1F1F1F"/>
                </a:solidFill>
              </a:defRPr>
            </a:pPr>
            <a:r>
              <a:t>Незручний пошук та фільтрація — </a:t>
            </a:r>
            <a:r>
              <a:rPr b="0">
                <a:solidFill>
                  <a:srgbClr val="5E5E5E"/>
                </a:solidFill>
              </a:rPr>
              <a:t>Багато платформ не дозволяють фільтрувати тварин за видом, породою, статтю, віком чи станом здоров'я, що ускладнює пошук релевантних оголошень.</a:t>
            </a:r>
          </a:p>
        </p:txBody>
      </p:sp>
      <p:pic>
        <p:nvPicPr>
          <p:cNvPr id="38" name="Image 3" descr="Image 3"/>
          <p:cNvPicPr>
            <a:picLocks noChangeAspect="1"/>
          </p:cNvPicPr>
          <p:nvPr/>
        </p:nvPicPr>
        <p:blipFill>
          <a:blip r:embed="rId2">
            <a:extLst/>
          </a:blip>
          <a:stretch>
            <a:fillRect/>
          </a:stretch>
        </p:blipFill>
        <p:spPr>
          <a:xfrm>
            <a:off x="786383" y="4960030"/>
            <a:ext cx="182884" cy="182884"/>
          </a:xfrm>
          <a:prstGeom prst="rect">
            <a:avLst/>
          </a:prstGeom>
          <a:ln w="12700">
            <a:miter lim="400000"/>
          </a:ln>
        </p:spPr>
      </p:pic>
      <p:sp>
        <p:nvSpPr>
          <p:cNvPr id="39" name="Text 7"/>
          <p:cNvSpPr txBox="1"/>
          <p:nvPr/>
        </p:nvSpPr>
        <p:spPr>
          <a:xfrm>
            <a:off x="1133854" y="4966974"/>
            <a:ext cx="10241283" cy="47988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8000"/>
              </a:lnSpc>
              <a:defRPr b="1" sz="1600">
                <a:solidFill>
                  <a:srgbClr val="1F1F1F"/>
                </a:solidFill>
              </a:defRPr>
            </a:pPr>
            <a:r>
              <a:t>Неструктуровані заявки на адопцію — </a:t>
            </a:r>
            <a:r>
              <a:rPr b="0">
                <a:solidFill>
                  <a:srgbClr val="5E5E5E"/>
                </a:solidFill>
              </a:rPr>
              <a:t>Користувачі змушені звертатися до притулків через сторонні канали зв'язку, а притулки не мають зручного інструменту для відстеження статусу заявок.</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1" name="Image 0" descr="Image 0"/>
          <p:cNvPicPr>
            <a:picLocks noChangeAspect="1"/>
          </p:cNvPicPr>
          <p:nvPr/>
        </p:nvPicPr>
        <p:blipFill>
          <a:blip r:embed="rId2">
            <a:extLst/>
          </a:blip>
          <a:stretch>
            <a:fillRect/>
          </a:stretch>
        </p:blipFill>
        <p:spPr>
          <a:xfrm>
            <a:off x="777240" y="502919"/>
            <a:ext cx="329188" cy="329188"/>
          </a:xfrm>
          <a:prstGeom prst="rect">
            <a:avLst/>
          </a:prstGeom>
          <a:ln w="12700">
            <a:miter lim="400000"/>
          </a:ln>
        </p:spPr>
      </p:pic>
      <p:sp>
        <p:nvSpPr>
          <p:cNvPr id="42" name="Text 0"/>
          <p:cNvSpPr txBox="1"/>
          <p:nvPr/>
        </p:nvSpPr>
        <p:spPr>
          <a:xfrm>
            <a:off x="1252727" y="505697"/>
            <a:ext cx="1051560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1F1F"/>
                </a:solidFill>
              </a:defRPr>
            </a:lvl1pPr>
          </a:lstStyle>
          <a:p>
            <a:pPr/>
            <a:r>
              <a:t>Мета та завдання роботи</a:t>
            </a:r>
          </a:p>
        </p:txBody>
      </p:sp>
      <p:sp>
        <p:nvSpPr>
          <p:cNvPr id="43" name="Shape 1"/>
          <p:cNvSpPr/>
          <p:nvPr/>
        </p:nvSpPr>
        <p:spPr>
          <a:xfrm>
            <a:off x="777240" y="1078991"/>
            <a:ext cx="10634472" cy="1"/>
          </a:xfrm>
          <a:prstGeom prst="line">
            <a:avLst/>
          </a:prstGeom>
          <a:ln w="12700">
            <a:solidFill>
              <a:srgbClr val="E6E0F5"/>
            </a:solidFill>
          </a:ln>
        </p:spPr>
        <p:txBody>
          <a:bodyPr lIns="45718" tIns="45718" rIns="45718" bIns="45718"/>
          <a:lstStyle/>
          <a:p>
            <a:pPr/>
          </a:p>
        </p:txBody>
      </p:sp>
      <p:sp>
        <p:nvSpPr>
          <p:cNvPr id="44" name="Shape 3"/>
          <p:cNvSpPr/>
          <p:nvPr/>
        </p:nvSpPr>
        <p:spPr>
          <a:xfrm>
            <a:off x="777240" y="1234438"/>
            <a:ext cx="10634472" cy="1097282"/>
          </a:xfrm>
          <a:prstGeom prst="roundRect">
            <a:avLst>
              <a:gd name="adj" fmla="val 5833"/>
            </a:avLst>
          </a:prstGeom>
          <a:solidFill>
            <a:srgbClr val="F4EEFF"/>
          </a:solidFill>
          <a:ln w="12700">
            <a:miter lim="400000"/>
          </a:ln>
        </p:spPr>
        <p:txBody>
          <a:bodyPr lIns="45718" tIns="45718" rIns="45718" bIns="45718"/>
          <a:lstStyle/>
          <a:p>
            <a:pPr/>
          </a:p>
        </p:txBody>
      </p:sp>
      <p:sp>
        <p:nvSpPr>
          <p:cNvPr id="45" name="Text 4"/>
          <p:cNvSpPr txBox="1"/>
          <p:nvPr/>
        </p:nvSpPr>
        <p:spPr>
          <a:xfrm>
            <a:off x="1142997" y="1393128"/>
            <a:ext cx="10149845" cy="7799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1600">
                <a:solidFill>
                  <a:srgbClr val="6B43C9"/>
                </a:solidFill>
              </a:defRPr>
            </a:pPr>
            <a:r>
              <a:t>МЕТА РОБОТИ:  </a:t>
            </a:r>
            <a:r>
              <a:rPr b="0">
                <a:solidFill>
                  <a:srgbClr val="1F1F1F"/>
                </a:solidFill>
              </a:rPr>
              <a:t>розробити веб-платформу для адопції тварин з притулків, яка забезпечує зручну взаємодію між користувачами та притулками, перегляд інформації про тварин, пошук і фільтрацію оголошень, а також подання заявок на адопцію через єдину інформаційну систему.</a:t>
            </a:r>
          </a:p>
        </p:txBody>
      </p:sp>
      <p:sp>
        <p:nvSpPr>
          <p:cNvPr id="46" name="Text 5"/>
          <p:cNvSpPr txBox="1"/>
          <p:nvPr/>
        </p:nvSpPr>
        <p:spPr>
          <a:xfrm>
            <a:off x="705609" y="2748619"/>
            <a:ext cx="5486406"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35" sz="1300">
                <a:solidFill>
                  <a:srgbClr val="5E5E5E"/>
                </a:solidFill>
              </a:defRPr>
            </a:lvl1pPr>
          </a:lstStyle>
          <a:p>
            <a:pPr/>
            <a:r>
              <a:t>ОСНОВНІ ЗАВДАННЯ</a:t>
            </a:r>
          </a:p>
        </p:txBody>
      </p:sp>
      <p:pic>
        <p:nvPicPr>
          <p:cNvPr id="47" name="Image 1" descr="Image 1"/>
          <p:cNvPicPr>
            <a:picLocks noChangeAspect="1"/>
          </p:cNvPicPr>
          <p:nvPr/>
        </p:nvPicPr>
        <p:blipFill>
          <a:blip r:embed="rId3">
            <a:extLst/>
          </a:blip>
          <a:stretch>
            <a:fillRect/>
          </a:stretch>
        </p:blipFill>
        <p:spPr>
          <a:xfrm>
            <a:off x="705611" y="3152038"/>
            <a:ext cx="237747" cy="237748"/>
          </a:xfrm>
          <a:prstGeom prst="rect">
            <a:avLst/>
          </a:prstGeom>
          <a:ln w="12700">
            <a:miter lim="400000"/>
          </a:ln>
        </p:spPr>
      </p:pic>
      <p:sp>
        <p:nvSpPr>
          <p:cNvPr id="48" name="Text 6"/>
          <p:cNvSpPr txBox="1"/>
          <p:nvPr/>
        </p:nvSpPr>
        <p:spPr>
          <a:xfrm>
            <a:off x="1107944" y="3111472"/>
            <a:ext cx="4846326"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1F1F"/>
                </a:solidFill>
              </a:defRPr>
            </a:lvl1pPr>
          </a:lstStyle>
          <a:p>
            <a:pPr/>
            <a:r>
              <a:t>Аналіз предметної галузі</a:t>
            </a:r>
          </a:p>
        </p:txBody>
      </p:sp>
      <p:sp>
        <p:nvSpPr>
          <p:cNvPr id="49" name="Text 7"/>
          <p:cNvSpPr txBox="1"/>
          <p:nvPr/>
        </p:nvSpPr>
        <p:spPr>
          <a:xfrm>
            <a:off x="1107945" y="3569422"/>
            <a:ext cx="493776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E5E5E"/>
                </a:solidFill>
              </a:defRPr>
            </a:lvl1pPr>
          </a:lstStyle>
          <a:p>
            <a:pPr/>
            <a:r>
              <a:t>Дослідження існуючих аналогів та виявлення їх недоліків</a:t>
            </a:r>
          </a:p>
        </p:txBody>
      </p:sp>
      <p:pic>
        <p:nvPicPr>
          <p:cNvPr id="50" name="Image 2" descr="Image 2"/>
          <p:cNvPicPr>
            <a:picLocks noChangeAspect="1"/>
          </p:cNvPicPr>
          <p:nvPr/>
        </p:nvPicPr>
        <p:blipFill>
          <a:blip r:embed="rId3">
            <a:extLst/>
          </a:blip>
          <a:stretch>
            <a:fillRect/>
          </a:stretch>
        </p:blipFill>
        <p:spPr>
          <a:xfrm>
            <a:off x="6146291" y="3152038"/>
            <a:ext cx="237748" cy="237748"/>
          </a:xfrm>
          <a:prstGeom prst="rect">
            <a:avLst/>
          </a:prstGeom>
          <a:ln w="12700">
            <a:miter lim="400000"/>
          </a:ln>
        </p:spPr>
      </p:pic>
      <p:sp>
        <p:nvSpPr>
          <p:cNvPr id="51" name="Text 8"/>
          <p:cNvSpPr txBox="1"/>
          <p:nvPr/>
        </p:nvSpPr>
        <p:spPr>
          <a:xfrm>
            <a:off x="6548626" y="3111472"/>
            <a:ext cx="4846324"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1F1F"/>
                </a:solidFill>
              </a:defRPr>
            </a:lvl1pPr>
          </a:lstStyle>
          <a:p>
            <a:pPr/>
            <a:r>
              <a:t>Формування вимог</a:t>
            </a:r>
          </a:p>
        </p:txBody>
      </p:sp>
      <p:sp>
        <p:nvSpPr>
          <p:cNvPr id="52" name="Text 9"/>
          <p:cNvSpPr txBox="1"/>
          <p:nvPr/>
        </p:nvSpPr>
        <p:spPr>
          <a:xfrm>
            <a:off x="6548626" y="3569422"/>
            <a:ext cx="493776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E5E5E"/>
                </a:solidFill>
              </a:defRPr>
            </a:lvl1pPr>
          </a:lstStyle>
          <a:p>
            <a:pPr/>
            <a:r>
              <a:t>Визначення функціональних і нефункціональних вимог, ролей</a:t>
            </a:r>
          </a:p>
        </p:txBody>
      </p:sp>
      <p:pic>
        <p:nvPicPr>
          <p:cNvPr id="53" name="Image 3" descr="Image 3"/>
          <p:cNvPicPr>
            <a:picLocks noChangeAspect="1"/>
          </p:cNvPicPr>
          <p:nvPr/>
        </p:nvPicPr>
        <p:blipFill>
          <a:blip r:embed="rId3">
            <a:extLst/>
          </a:blip>
          <a:stretch>
            <a:fillRect/>
          </a:stretch>
        </p:blipFill>
        <p:spPr>
          <a:xfrm>
            <a:off x="705611" y="4231030"/>
            <a:ext cx="237747" cy="237748"/>
          </a:xfrm>
          <a:prstGeom prst="rect">
            <a:avLst/>
          </a:prstGeom>
          <a:ln w="12700">
            <a:miter lim="400000"/>
          </a:ln>
        </p:spPr>
      </p:pic>
      <p:sp>
        <p:nvSpPr>
          <p:cNvPr id="54" name="Text 10"/>
          <p:cNvSpPr txBox="1"/>
          <p:nvPr/>
        </p:nvSpPr>
        <p:spPr>
          <a:xfrm>
            <a:off x="1107944" y="4190462"/>
            <a:ext cx="4846326"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1F1F"/>
                </a:solidFill>
              </a:defRPr>
            </a:lvl1pPr>
          </a:lstStyle>
          <a:p>
            <a:pPr/>
            <a:r>
              <a:t>Проєктування системи</a:t>
            </a:r>
          </a:p>
        </p:txBody>
      </p:sp>
      <p:sp>
        <p:nvSpPr>
          <p:cNvPr id="55" name="Text 11"/>
          <p:cNvSpPr txBox="1"/>
          <p:nvPr/>
        </p:nvSpPr>
        <p:spPr>
          <a:xfrm>
            <a:off x="1107945" y="4648414"/>
            <a:ext cx="493776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E5E5E"/>
                </a:solidFill>
              </a:defRPr>
            </a:lvl1pPr>
          </a:lstStyle>
          <a:p>
            <a:pPr/>
            <a:r>
              <a:t>Розробка архітектури та структури зберігання даних</a:t>
            </a:r>
          </a:p>
        </p:txBody>
      </p:sp>
      <p:pic>
        <p:nvPicPr>
          <p:cNvPr id="56" name="Image 4" descr="Image 4"/>
          <p:cNvPicPr>
            <a:picLocks noChangeAspect="1"/>
          </p:cNvPicPr>
          <p:nvPr/>
        </p:nvPicPr>
        <p:blipFill>
          <a:blip r:embed="rId3">
            <a:extLst/>
          </a:blip>
          <a:stretch>
            <a:fillRect/>
          </a:stretch>
        </p:blipFill>
        <p:spPr>
          <a:xfrm>
            <a:off x="6146291" y="4231030"/>
            <a:ext cx="237748" cy="237748"/>
          </a:xfrm>
          <a:prstGeom prst="rect">
            <a:avLst/>
          </a:prstGeom>
          <a:ln w="12700">
            <a:miter lim="400000"/>
          </a:ln>
        </p:spPr>
      </p:pic>
      <p:sp>
        <p:nvSpPr>
          <p:cNvPr id="57" name="Text 12"/>
          <p:cNvSpPr txBox="1"/>
          <p:nvPr/>
        </p:nvSpPr>
        <p:spPr>
          <a:xfrm>
            <a:off x="6548626" y="4190462"/>
            <a:ext cx="4846324"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1F1F"/>
                </a:solidFill>
              </a:defRPr>
            </a:lvl1pPr>
          </a:lstStyle>
          <a:p>
            <a:pPr/>
            <a:r>
              <a:t>Розробка застосунку</a:t>
            </a:r>
          </a:p>
        </p:txBody>
      </p:sp>
      <p:sp>
        <p:nvSpPr>
          <p:cNvPr id="58" name="Text 13"/>
          <p:cNvSpPr txBox="1"/>
          <p:nvPr/>
        </p:nvSpPr>
        <p:spPr>
          <a:xfrm>
            <a:off x="6548626" y="4648414"/>
            <a:ext cx="493776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E5E5E"/>
                </a:solidFill>
              </a:defRPr>
            </a:lvl1pPr>
          </a:lstStyle>
          <a:p>
            <a:pPr/>
            <a:r>
              <a:t>Реалізація клієнтської та серверної частин системи</a:t>
            </a:r>
          </a:p>
        </p:txBody>
      </p:sp>
      <p:pic>
        <p:nvPicPr>
          <p:cNvPr id="59" name="Image 5" descr="Image 5"/>
          <p:cNvPicPr>
            <a:picLocks noChangeAspect="1"/>
          </p:cNvPicPr>
          <p:nvPr/>
        </p:nvPicPr>
        <p:blipFill>
          <a:blip r:embed="rId3">
            <a:extLst/>
          </a:blip>
          <a:stretch>
            <a:fillRect/>
          </a:stretch>
        </p:blipFill>
        <p:spPr>
          <a:xfrm>
            <a:off x="705611" y="5310023"/>
            <a:ext cx="237747" cy="237748"/>
          </a:xfrm>
          <a:prstGeom prst="rect">
            <a:avLst/>
          </a:prstGeom>
          <a:ln w="12700">
            <a:miter lim="400000"/>
          </a:ln>
        </p:spPr>
      </p:pic>
      <p:sp>
        <p:nvSpPr>
          <p:cNvPr id="60" name="Text 14"/>
          <p:cNvSpPr txBox="1"/>
          <p:nvPr/>
        </p:nvSpPr>
        <p:spPr>
          <a:xfrm>
            <a:off x="1107944" y="5269453"/>
            <a:ext cx="4846326"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1F1F"/>
                </a:solidFill>
              </a:defRPr>
            </a:lvl1pPr>
          </a:lstStyle>
          <a:p>
            <a:pPr/>
            <a:r>
              <a:t>Аутентифікація та ролі</a:t>
            </a:r>
          </a:p>
        </p:txBody>
      </p:sp>
      <p:sp>
        <p:nvSpPr>
          <p:cNvPr id="61" name="Text 15"/>
          <p:cNvSpPr txBox="1"/>
          <p:nvPr/>
        </p:nvSpPr>
        <p:spPr>
          <a:xfrm>
            <a:off x="1107945" y="5727406"/>
            <a:ext cx="493776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E5E5E"/>
                </a:solidFill>
              </a:defRPr>
            </a:lvl1pPr>
          </a:lstStyle>
          <a:p>
            <a:pPr/>
            <a:r>
              <a:t>Реалізація безпечної аутентифікації та розмежування доступу</a:t>
            </a:r>
          </a:p>
        </p:txBody>
      </p:sp>
      <p:pic>
        <p:nvPicPr>
          <p:cNvPr id="62" name="Image 6" descr="Image 6"/>
          <p:cNvPicPr>
            <a:picLocks noChangeAspect="1"/>
          </p:cNvPicPr>
          <p:nvPr/>
        </p:nvPicPr>
        <p:blipFill>
          <a:blip r:embed="rId3">
            <a:extLst/>
          </a:blip>
          <a:stretch>
            <a:fillRect/>
          </a:stretch>
        </p:blipFill>
        <p:spPr>
          <a:xfrm>
            <a:off x="6146291" y="5310023"/>
            <a:ext cx="237748" cy="237748"/>
          </a:xfrm>
          <a:prstGeom prst="rect">
            <a:avLst/>
          </a:prstGeom>
          <a:ln w="12700">
            <a:miter lim="400000"/>
          </a:ln>
        </p:spPr>
      </p:pic>
      <p:sp>
        <p:nvSpPr>
          <p:cNvPr id="63" name="Text 16"/>
          <p:cNvSpPr txBox="1"/>
          <p:nvPr/>
        </p:nvSpPr>
        <p:spPr>
          <a:xfrm>
            <a:off x="6548626" y="5269453"/>
            <a:ext cx="4846324"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1F1F"/>
                </a:solidFill>
              </a:defRPr>
            </a:lvl1pPr>
          </a:lstStyle>
          <a:p>
            <a:pPr/>
            <a:r>
              <a:t>Тестування ПЗ</a:t>
            </a:r>
          </a:p>
        </p:txBody>
      </p:sp>
      <p:sp>
        <p:nvSpPr>
          <p:cNvPr id="64" name="Text 17"/>
          <p:cNvSpPr txBox="1"/>
          <p:nvPr/>
        </p:nvSpPr>
        <p:spPr>
          <a:xfrm>
            <a:off x="6548626" y="5727406"/>
            <a:ext cx="493776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E5E5E"/>
                </a:solidFill>
              </a:defRPr>
            </a:lvl1pPr>
          </a:lstStyle>
          <a:p>
            <a:pPr/>
            <a:r>
              <a:t>Перевірка коректності роботи розробленої системи</a:t>
            </a:r>
          </a:p>
        </p:txBody>
      </p:sp>
      <p:sp>
        <p:nvSpPr>
          <p:cNvPr id="65" name="Text 18"/>
          <p:cNvSpPr txBox="1"/>
          <p:nvPr/>
        </p:nvSpPr>
        <p:spPr>
          <a:xfrm>
            <a:off x="822959" y="6306122"/>
            <a:ext cx="10515601" cy="280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i="1" sz="1400">
                <a:solidFill>
                  <a:srgbClr val="9A9A9A"/>
                </a:solidFill>
              </a:defRPr>
            </a:lvl1pPr>
          </a:lstStyle>
          <a:p>
            <a:pPr/>
            <a:r>
              <a:t>Галузь застосування — діяльність притулків для тварин, волонтерських організацій та сервісів, пов'язаних з адопцією тварин.</a:t>
            </a:r>
          </a:p>
        </p:txBody>
      </p:sp>
      <p:sp>
        <p:nvSpPr>
          <p:cNvPr id="66"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8" name="Image 0" descr="Image 0"/>
          <p:cNvPicPr>
            <a:picLocks noChangeAspect="1"/>
          </p:cNvPicPr>
          <p:nvPr/>
        </p:nvPicPr>
        <p:blipFill>
          <a:blip r:embed="rId2">
            <a:extLst/>
          </a:blip>
          <a:stretch>
            <a:fillRect/>
          </a:stretch>
        </p:blipFill>
        <p:spPr>
          <a:xfrm>
            <a:off x="777240" y="502919"/>
            <a:ext cx="329188" cy="329188"/>
          </a:xfrm>
          <a:prstGeom prst="rect">
            <a:avLst/>
          </a:prstGeom>
          <a:ln w="12700">
            <a:miter lim="400000"/>
          </a:ln>
        </p:spPr>
      </p:pic>
      <p:sp>
        <p:nvSpPr>
          <p:cNvPr id="69" name="Text 0"/>
          <p:cNvSpPr txBox="1"/>
          <p:nvPr/>
        </p:nvSpPr>
        <p:spPr>
          <a:xfrm>
            <a:off x="1252727" y="505697"/>
            <a:ext cx="1051560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1F1F"/>
                </a:solidFill>
              </a:defRPr>
            </a:lvl1pPr>
          </a:lstStyle>
          <a:p>
            <a:pPr/>
            <a:r>
              <a:t>Аналіз існуючих аналогів</a:t>
            </a:r>
          </a:p>
        </p:txBody>
      </p:sp>
      <p:sp>
        <p:nvSpPr>
          <p:cNvPr id="70" name="Shape 1"/>
          <p:cNvSpPr/>
          <p:nvPr/>
        </p:nvSpPr>
        <p:spPr>
          <a:xfrm>
            <a:off x="777240" y="1078991"/>
            <a:ext cx="10634472" cy="1"/>
          </a:xfrm>
          <a:prstGeom prst="line">
            <a:avLst/>
          </a:prstGeom>
          <a:ln w="12700">
            <a:solidFill>
              <a:srgbClr val="E6E0F5"/>
            </a:solidFill>
          </a:ln>
        </p:spPr>
        <p:txBody>
          <a:bodyPr lIns="45718" tIns="45718" rIns="45718" bIns="45718"/>
          <a:lstStyle/>
          <a:p>
            <a:pPr/>
          </a:p>
        </p:txBody>
      </p:sp>
      <p:sp>
        <p:nvSpPr>
          <p:cNvPr id="71" name="Text 3"/>
          <p:cNvSpPr txBox="1"/>
          <p:nvPr/>
        </p:nvSpPr>
        <p:spPr>
          <a:xfrm>
            <a:off x="822959" y="1258360"/>
            <a:ext cx="10515601" cy="59223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17999"/>
              </a:lnSpc>
              <a:defRPr sz="1600">
                <a:solidFill>
                  <a:srgbClr val="1F1F1F"/>
                </a:solidFill>
              </a:defRPr>
            </a:lvl1pPr>
          </a:lstStyle>
          <a:p>
            <a:pPr/>
            <a:r>
              <a:t>Для аналізу обрано два відомі сервіси — міжнародний Petfinder та український Happy Paw. Розглянемо їхні недоліки, які було враховано під час розробки власної платформи.</a:t>
            </a:r>
          </a:p>
        </p:txBody>
      </p:sp>
      <p:sp>
        <p:nvSpPr>
          <p:cNvPr id="72" name="Shape 8"/>
          <p:cNvSpPr/>
          <p:nvPr/>
        </p:nvSpPr>
        <p:spPr>
          <a:xfrm>
            <a:off x="828736" y="4730949"/>
            <a:ext cx="10634475" cy="1"/>
          </a:xfrm>
          <a:prstGeom prst="line">
            <a:avLst/>
          </a:prstGeom>
          <a:ln w="12700">
            <a:solidFill>
              <a:srgbClr val="E6E0F5"/>
            </a:solidFill>
          </a:ln>
        </p:spPr>
        <p:txBody>
          <a:bodyPr lIns="45718" tIns="45718" rIns="45718" bIns="45718"/>
          <a:lstStyle/>
          <a:p>
            <a:pPr/>
          </a:p>
        </p:txBody>
      </p:sp>
      <p:sp>
        <p:nvSpPr>
          <p:cNvPr id="73" name="Text 9"/>
          <p:cNvSpPr txBox="1"/>
          <p:nvPr/>
        </p:nvSpPr>
        <p:spPr>
          <a:xfrm>
            <a:off x="828734" y="4919246"/>
            <a:ext cx="5486406"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18" sz="1200">
                <a:solidFill>
                  <a:srgbClr val="5E5E5E"/>
                </a:solidFill>
              </a:defRPr>
            </a:lvl1pPr>
          </a:lstStyle>
          <a:p>
            <a:pPr/>
            <a:r>
              <a:t>ЧИМ ADOPTLY КРАЩИЙ</a:t>
            </a:r>
          </a:p>
        </p:txBody>
      </p:sp>
      <p:pic>
        <p:nvPicPr>
          <p:cNvPr id="74" name="Image 3" descr="Image 3"/>
          <p:cNvPicPr>
            <a:picLocks noChangeAspect="1"/>
          </p:cNvPicPr>
          <p:nvPr/>
        </p:nvPicPr>
        <p:blipFill>
          <a:blip r:embed="rId2">
            <a:extLst/>
          </a:blip>
          <a:stretch>
            <a:fillRect/>
          </a:stretch>
        </p:blipFill>
        <p:spPr>
          <a:xfrm>
            <a:off x="828737" y="5352741"/>
            <a:ext cx="182884" cy="182884"/>
          </a:xfrm>
          <a:prstGeom prst="rect">
            <a:avLst/>
          </a:prstGeom>
          <a:ln w="12700">
            <a:miter lim="400000"/>
          </a:ln>
        </p:spPr>
      </p:pic>
      <p:sp>
        <p:nvSpPr>
          <p:cNvPr id="75" name="Text 10"/>
          <p:cNvSpPr txBox="1"/>
          <p:nvPr/>
        </p:nvSpPr>
        <p:spPr>
          <a:xfrm>
            <a:off x="1176206" y="5258060"/>
            <a:ext cx="4791462"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1F1F1F"/>
                </a:solidFill>
              </a:defRPr>
            </a:lvl1pPr>
          </a:lstStyle>
          <a:p>
            <a:pPr/>
            <a:r>
              <a:t>Єдиний каталог тварин і притулків з україномовним інтерфейсом</a:t>
            </a:r>
          </a:p>
        </p:txBody>
      </p:sp>
      <p:pic>
        <p:nvPicPr>
          <p:cNvPr id="76" name="Image 4" descr="Image 4"/>
          <p:cNvPicPr>
            <a:picLocks noChangeAspect="1"/>
          </p:cNvPicPr>
          <p:nvPr/>
        </p:nvPicPr>
        <p:blipFill>
          <a:blip r:embed="rId2">
            <a:extLst/>
          </a:blip>
          <a:stretch>
            <a:fillRect/>
          </a:stretch>
        </p:blipFill>
        <p:spPr>
          <a:xfrm>
            <a:off x="6269416" y="5352741"/>
            <a:ext cx="182884" cy="182884"/>
          </a:xfrm>
          <a:prstGeom prst="rect">
            <a:avLst/>
          </a:prstGeom>
          <a:ln w="12700">
            <a:miter lim="400000"/>
          </a:ln>
        </p:spPr>
      </p:pic>
      <p:sp>
        <p:nvSpPr>
          <p:cNvPr id="77" name="Text 11"/>
          <p:cNvSpPr txBox="1"/>
          <p:nvPr/>
        </p:nvSpPr>
        <p:spPr>
          <a:xfrm>
            <a:off x="6616889" y="5372360"/>
            <a:ext cx="502920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1F1F1F"/>
                </a:solidFill>
              </a:defRPr>
            </a:lvl1pPr>
          </a:lstStyle>
          <a:p>
            <a:pPr/>
            <a:r>
              <a:t>Гнучкий пошук і фільтрація за видом, статтю, містом та станом</a:t>
            </a:r>
          </a:p>
        </p:txBody>
      </p:sp>
      <p:pic>
        <p:nvPicPr>
          <p:cNvPr id="78" name="Image 5" descr="Image 5"/>
          <p:cNvPicPr>
            <a:picLocks noChangeAspect="1"/>
          </p:cNvPicPr>
          <p:nvPr/>
        </p:nvPicPr>
        <p:blipFill>
          <a:blip r:embed="rId2">
            <a:extLst/>
          </a:blip>
          <a:stretch>
            <a:fillRect/>
          </a:stretch>
        </p:blipFill>
        <p:spPr>
          <a:xfrm>
            <a:off x="828737" y="5919668"/>
            <a:ext cx="182884" cy="182884"/>
          </a:xfrm>
          <a:prstGeom prst="rect">
            <a:avLst/>
          </a:prstGeom>
          <a:ln w="12700">
            <a:miter lim="400000"/>
          </a:ln>
        </p:spPr>
      </p:pic>
      <p:sp>
        <p:nvSpPr>
          <p:cNvPr id="79" name="Text 12"/>
          <p:cNvSpPr txBox="1"/>
          <p:nvPr/>
        </p:nvSpPr>
        <p:spPr>
          <a:xfrm>
            <a:off x="1176206" y="5939288"/>
            <a:ext cx="479146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1F1F1F"/>
                </a:solidFill>
              </a:defRPr>
            </a:lvl1pPr>
          </a:lstStyle>
          <a:p>
            <a:pPr/>
            <a:r>
              <a:t>Онлайн-подання заявок на адопцію з відстеженням їх статусу</a:t>
            </a:r>
          </a:p>
        </p:txBody>
      </p:sp>
      <p:pic>
        <p:nvPicPr>
          <p:cNvPr id="80" name="Image 6" descr="Image 6"/>
          <p:cNvPicPr>
            <a:picLocks noChangeAspect="1"/>
          </p:cNvPicPr>
          <p:nvPr/>
        </p:nvPicPr>
        <p:blipFill>
          <a:blip r:embed="rId2">
            <a:extLst/>
          </a:blip>
          <a:stretch>
            <a:fillRect/>
          </a:stretch>
        </p:blipFill>
        <p:spPr>
          <a:xfrm>
            <a:off x="6269416" y="5919668"/>
            <a:ext cx="182884" cy="182884"/>
          </a:xfrm>
          <a:prstGeom prst="rect">
            <a:avLst/>
          </a:prstGeom>
          <a:ln w="12700">
            <a:miter lim="400000"/>
          </a:ln>
        </p:spPr>
      </p:pic>
      <p:sp>
        <p:nvSpPr>
          <p:cNvPr id="81" name="Text 13"/>
          <p:cNvSpPr txBox="1"/>
          <p:nvPr/>
        </p:nvSpPr>
        <p:spPr>
          <a:xfrm>
            <a:off x="6616889" y="5824988"/>
            <a:ext cx="5029204"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1F1F1F"/>
                </a:solidFill>
              </a:defRPr>
            </a:lvl1pPr>
          </a:lstStyle>
          <a:p>
            <a:pPr/>
            <a:r>
              <a:t>Сучасна авторизація з ролями та адаптивний дизайн під будь-який екран</a:t>
            </a:r>
          </a:p>
        </p:txBody>
      </p:sp>
      <p:sp>
        <p:nvSpPr>
          <p:cNvPr id="82" name="Shape 4"/>
          <p:cNvSpPr/>
          <p:nvPr/>
        </p:nvSpPr>
        <p:spPr>
          <a:xfrm>
            <a:off x="609598" y="2132033"/>
            <a:ext cx="5349246" cy="2260726"/>
          </a:xfrm>
          <a:prstGeom prst="roundRect">
            <a:avLst>
              <a:gd name="adj" fmla="val 4045"/>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83" name="Shape 5"/>
          <p:cNvSpPr/>
          <p:nvPr/>
        </p:nvSpPr>
        <p:spPr>
          <a:xfrm>
            <a:off x="906780" y="2260481"/>
            <a:ext cx="640087" cy="640088"/>
          </a:xfrm>
          <a:prstGeom prst="ellipse">
            <a:avLst/>
          </a:prstGeom>
          <a:solidFill>
            <a:srgbClr val="8456F0"/>
          </a:solidFill>
          <a:ln w="12700">
            <a:miter lim="400000"/>
          </a:ln>
        </p:spPr>
        <p:txBody>
          <a:bodyPr lIns="45718" tIns="45718" rIns="45718" bIns="45718"/>
          <a:lstStyle/>
          <a:p>
            <a:pPr/>
          </a:p>
        </p:txBody>
      </p:sp>
      <p:pic>
        <p:nvPicPr>
          <p:cNvPr id="84" name="Image 2" descr="Image 2"/>
          <p:cNvPicPr>
            <a:picLocks noChangeAspect="1"/>
          </p:cNvPicPr>
          <p:nvPr/>
        </p:nvPicPr>
        <p:blipFill>
          <a:blip r:embed="rId3">
            <a:extLst/>
          </a:blip>
          <a:stretch>
            <a:fillRect/>
          </a:stretch>
        </p:blipFill>
        <p:spPr>
          <a:xfrm>
            <a:off x="1043938" y="2397642"/>
            <a:ext cx="365764" cy="365764"/>
          </a:xfrm>
          <a:prstGeom prst="rect">
            <a:avLst/>
          </a:prstGeom>
          <a:ln w="12700">
            <a:miter lim="400000"/>
          </a:ln>
        </p:spPr>
      </p:pic>
      <p:sp>
        <p:nvSpPr>
          <p:cNvPr id="85" name="Text 6"/>
          <p:cNvSpPr txBox="1"/>
          <p:nvPr/>
        </p:nvSpPr>
        <p:spPr>
          <a:xfrm>
            <a:off x="1684017" y="2473174"/>
            <a:ext cx="3931927" cy="24874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262626"/>
                </a:solidFill>
              </a:defRPr>
            </a:lvl1pPr>
          </a:lstStyle>
          <a:p>
            <a:pPr/>
            <a:r>
              <a:t>Petfinder</a:t>
            </a:r>
          </a:p>
        </p:txBody>
      </p:sp>
      <p:sp>
        <p:nvSpPr>
          <p:cNvPr id="86" name="Text 7"/>
          <p:cNvSpPr txBox="1"/>
          <p:nvPr/>
        </p:nvSpPr>
        <p:spPr>
          <a:xfrm>
            <a:off x="952497" y="3003456"/>
            <a:ext cx="4663447" cy="11946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2000"/>
              </a:lnSpc>
              <a:defRPr sz="1400">
                <a:solidFill>
                  <a:srgbClr val="5F5F5F"/>
                </a:solidFill>
              </a:defRPr>
            </a:lvl1pPr>
          </a:lstStyle>
          <a:p>
            <a:pPr/>
            <a:r>
              <a:t>Міжнародний сервіс із великою базою тварин. Недоліки: орієнтований на ринок США та не локалізований для України, фільтрація обмежена базовими ознаками, а зручного онлайн-подання заявок на адопцію не передбачено.</a:t>
            </a:r>
          </a:p>
        </p:txBody>
      </p:sp>
      <p:sp>
        <p:nvSpPr>
          <p:cNvPr id="87" name="Shape 8"/>
          <p:cNvSpPr/>
          <p:nvPr/>
        </p:nvSpPr>
        <p:spPr>
          <a:xfrm>
            <a:off x="6233159" y="2132033"/>
            <a:ext cx="5349241" cy="2240410"/>
          </a:xfrm>
          <a:prstGeom prst="roundRect">
            <a:avLst>
              <a:gd name="adj" fmla="val 4081"/>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88" name="Shape 9"/>
          <p:cNvSpPr/>
          <p:nvPr/>
        </p:nvSpPr>
        <p:spPr>
          <a:xfrm>
            <a:off x="6530337" y="2260481"/>
            <a:ext cx="640087" cy="640088"/>
          </a:xfrm>
          <a:prstGeom prst="ellipse">
            <a:avLst/>
          </a:prstGeom>
          <a:solidFill>
            <a:srgbClr val="8456F0"/>
          </a:solidFill>
          <a:ln w="12700">
            <a:miter lim="400000"/>
          </a:ln>
        </p:spPr>
        <p:txBody>
          <a:bodyPr lIns="45718" tIns="45718" rIns="45718" bIns="45718"/>
          <a:lstStyle/>
          <a:p>
            <a:pPr/>
          </a:p>
        </p:txBody>
      </p:sp>
      <p:pic>
        <p:nvPicPr>
          <p:cNvPr id="89" name="Image 3" descr="Image 3"/>
          <p:cNvPicPr>
            <a:picLocks noChangeAspect="1"/>
          </p:cNvPicPr>
          <p:nvPr/>
        </p:nvPicPr>
        <p:blipFill>
          <a:blip r:embed="rId4">
            <a:extLst/>
          </a:blip>
          <a:stretch>
            <a:fillRect/>
          </a:stretch>
        </p:blipFill>
        <p:spPr>
          <a:xfrm>
            <a:off x="6667500" y="2397642"/>
            <a:ext cx="365760" cy="365764"/>
          </a:xfrm>
          <a:prstGeom prst="rect">
            <a:avLst/>
          </a:prstGeom>
          <a:ln w="12700">
            <a:miter lim="400000"/>
          </a:ln>
        </p:spPr>
      </p:pic>
      <p:sp>
        <p:nvSpPr>
          <p:cNvPr id="90" name="Text 10"/>
          <p:cNvSpPr txBox="1"/>
          <p:nvPr/>
        </p:nvSpPr>
        <p:spPr>
          <a:xfrm>
            <a:off x="7353300" y="2456153"/>
            <a:ext cx="393192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262626"/>
                </a:solidFill>
              </a:defRPr>
            </a:lvl1pPr>
          </a:lstStyle>
          <a:p>
            <a:pPr/>
            <a:r>
              <a:t>Happy Paw</a:t>
            </a:r>
          </a:p>
        </p:txBody>
      </p:sp>
      <p:sp>
        <p:nvSpPr>
          <p:cNvPr id="91" name="Text 11"/>
          <p:cNvSpPr txBox="1"/>
          <p:nvPr/>
        </p:nvSpPr>
        <p:spPr>
          <a:xfrm>
            <a:off x="6576059" y="3129117"/>
            <a:ext cx="4663441" cy="9433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2000"/>
              </a:lnSpc>
              <a:defRPr sz="1400">
                <a:solidFill>
                  <a:srgbClr val="5F5F5F"/>
                </a:solidFill>
              </a:defRPr>
            </a:lvl1pPr>
          </a:lstStyle>
          <a:p>
            <a:pPr/>
            <a:r>
              <a:t>Український сервіс із фокусом на благодійності та інформуванні. Недоліки: немає повноцінного каталогу з фільтрами, особистих кабінетів користувачів і механізму подання та відстеження заявок на адопцію.</a:t>
            </a:r>
          </a:p>
        </p:txBody>
      </p:sp>
      <p:sp>
        <p:nvSpPr>
          <p:cNvPr id="92"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4" name="Image 0" descr="Image 0"/>
          <p:cNvPicPr>
            <a:picLocks noChangeAspect="1"/>
          </p:cNvPicPr>
          <p:nvPr/>
        </p:nvPicPr>
        <p:blipFill>
          <a:blip r:embed="rId2">
            <a:extLst/>
          </a:blip>
          <a:stretch>
            <a:fillRect/>
          </a:stretch>
        </p:blipFill>
        <p:spPr>
          <a:xfrm>
            <a:off x="640080" y="475487"/>
            <a:ext cx="420628" cy="420628"/>
          </a:xfrm>
          <a:prstGeom prst="rect">
            <a:avLst/>
          </a:prstGeom>
          <a:ln w="12700">
            <a:miter lim="400000"/>
          </a:ln>
        </p:spPr>
      </p:pic>
      <p:sp>
        <p:nvSpPr>
          <p:cNvPr id="95" name="Shape 0"/>
          <p:cNvSpPr/>
          <p:nvPr/>
        </p:nvSpPr>
        <p:spPr>
          <a:xfrm>
            <a:off x="493776" y="329184"/>
            <a:ext cx="713239" cy="713232"/>
          </a:xfrm>
          <a:prstGeom prst="ellipse">
            <a:avLst/>
          </a:prstGeom>
          <a:solidFill>
            <a:srgbClr val="8456F0"/>
          </a:solidFill>
          <a:ln w="12700">
            <a:miter lim="400000"/>
          </a:ln>
        </p:spPr>
        <p:txBody>
          <a:bodyPr lIns="45718" tIns="45718" rIns="45718" bIns="45718"/>
          <a:lstStyle/>
          <a:p>
            <a:pPr/>
          </a:p>
        </p:txBody>
      </p:sp>
      <p:pic>
        <p:nvPicPr>
          <p:cNvPr id="96" name="Image 1" descr="Image 1"/>
          <p:cNvPicPr>
            <a:picLocks noChangeAspect="1"/>
          </p:cNvPicPr>
          <p:nvPr/>
        </p:nvPicPr>
        <p:blipFill>
          <a:blip r:embed="rId2">
            <a:extLst/>
          </a:blip>
          <a:stretch>
            <a:fillRect/>
          </a:stretch>
        </p:blipFill>
        <p:spPr>
          <a:xfrm>
            <a:off x="662940" y="489204"/>
            <a:ext cx="384049" cy="384049"/>
          </a:xfrm>
          <a:prstGeom prst="rect">
            <a:avLst/>
          </a:prstGeom>
          <a:ln w="12700">
            <a:miter lim="400000"/>
          </a:ln>
        </p:spPr>
      </p:pic>
      <p:sp>
        <p:nvSpPr>
          <p:cNvPr id="97" name="Text 1"/>
          <p:cNvSpPr txBox="1"/>
          <p:nvPr/>
        </p:nvSpPr>
        <p:spPr>
          <a:xfrm>
            <a:off x="1508760" y="417496"/>
            <a:ext cx="82296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8456F0"/>
                </a:solidFill>
              </a:defRPr>
            </a:lvl1pPr>
          </a:lstStyle>
          <a:p>
            <a:pPr/>
            <a:r>
              <a:t>РОЗМЕЖУВАННЯ ДОСТУПУ</a:t>
            </a:r>
          </a:p>
        </p:txBody>
      </p:sp>
      <p:sp>
        <p:nvSpPr>
          <p:cNvPr id="98" name="Text 2"/>
          <p:cNvSpPr txBox="1"/>
          <p:nvPr/>
        </p:nvSpPr>
        <p:spPr>
          <a:xfrm>
            <a:off x="1508760" y="678681"/>
            <a:ext cx="10058401" cy="3434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700">
                <a:solidFill>
                  <a:srgbClr val="262626"/>
                </a:solidFill>
              </a:defRPr>
            </a:lvl1pPr>
          </a:lstStyle>
          <a:p>
            <a:pPr/>
            <a:r>
              <a:t>Ролі користувачів системи</a:t>
            </a:r>
          </a:p>
        </p:txBody>
      </p:sp>
      <p:sp>
        <p:nvSpPr>
          <p:cNvPr id="99" name="Shape 4"/>
          <p:cNvSpPr/>
          <p:nvPr/>
        </p:nvSpPr>
        <p:spPr>
          <a:xfrm>
            <a:off x="640080" y="1554480"/>
            <a:ext cx="3502153" cy="4526280"/>
          </a:xfrm>
          <a:prstGeom prst="roundRect">
            <a:avLst>
              <a:gd name="adj" fmla="val 3133"/>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100" name="Shape 5"/>
          <p:cNvSpPr/>
          <p:nvPr/>
        </p:nvSpPr>
        <p:spPr>
          <a:xfrm>
            <a:off x="1888233" y="1965960"/>
            <a:ext cx="1005842" cy="1005843"/>
          </a:xfrm>
          <a:prstGeom prst="ellipse">
            <a:avLst/>
          </a:prstGeom>
          <a:solidFill>
            <a:srgbClr val="8456F0"/>
          </a:solidFill>
          <a:ln w="12700">
            <a:miter lim="400000"/>
          </a:ln>
        </p:spPr>
        <p:txBody>
          <a:bodyPr lIns="45718" tIns="45718" rIns="45718" bIns="45718"/>
          <a:lstStyle/>
          <a:p>
            <a:pPr/>
          </a:p>
        </p:txBody>
      </p:sp>
      <p:pic>
        <p:nvPicPr>
          <p:cNvPr id="101" name="Image 2" descr="Image 2"/>
          <p:cNvPicPr>
            <a:picLocks noChangeAspect="1"/>
          </p:cNvPicPr>
          <p:nvPr/>
        </p:nvPicPr>
        <p:blipFill>
          <a:blip r:embed="rId3">
            <a:extLst/>
          </a:blip>
          <a:stretch>
            <a:fillRect/>
          </a:stretch>
        </p:blipFill>
        <p:spPr>
          <a:xfrm>
            <a:off x="2116833" y="2194560"/>
            <a:ext cx="548644" cy="548644"/>
          </a:xfrm>
          <a:prstGeom prst="rect">
            <a:avLst/>
          </a:prstGeom>
          <a:ln w="12700">
            <a:miter lim="400000"/>
          </a:ln>
        </p:spPr>
      </p:pic>
      <p:sp>
        <p:nvSpPr>
          <p:cNvPr id="102" name="Text 6"/>
          <p:cNvSpPr txBox="1"/>
          <p:nvPr/>
        </p:nvSpPr>
        <p:spPr>
          <a:xfrm>
            <a:off x="822960" y="3373208"/>
            <a:ext cx="3136396"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5000"/>
              </a:lnSpc>
              <a:defRPr b="1" sz="2000">
                <a:solidFill>
                  <a:srgbClr val="262626"/>
                </a:solidFill>
              </a:defRPr>
            </a:lvl1pPr>
          </a:lstStyle>
          <a:p>
            <a:pPr/>
            <a:r>
              <a:t>Гість</a:t>
            </a:r>
          </a:p>
        </p:txBody>
      </p:sp>
      <p:sp>
        <p:nvSpPr>
          <p:cNvPr id="103" name="Shape 7"/>
          <p:cNvSpPr/>
          <p:nvPr/>
        </p:nvSpPr>
        <p:spPr>
          <a:xfrm>
            <a:off x="1024127" y="4032503"/>
            <a:ext cx="118879" cy="118879"/>
          </a:xfrm>
          <a:prstGeom prst="ellipse">
            <a:avLst/>
          </a:prstGeom>
          <a:solidFill>
            <a:srgbClr val="8456F0"/>
          </a:solidFill>
          <a:ln w="12700">
            <a:miter lim="400000"/>
          </a:ln>
        </p:spPr>
        <p:txBody>
          <a:bodyPr lIns="45718" tIns="45718" rIns="45718" bIns="45718"/>
          <a:lstStyle/>
          <a:p>
            <a:pPr/>
          </a:p>
        </p:txBody>
      </p:sp>
      <p:sp>
        <p:nvSpPr>
          <p:cNvPr id="104" name="Text 8"/>
          <p:cNvSpPr txBox="1"/>
          <p:nvPr/>
        </p:nvSpPr>
        <p:spPr>
          <a:xfrm>
            <a:off x="1261872" y="4013506"/>
            <a:ext cx="2633473"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F5F5F"/>
                </a:solidFill>
              </a:defRPr>
            </a:lvl1pPr>
          </a:lstStyle>
          <a:p>
            <a:pPr/>
            <a:r>
              <a:t>Перегляд каталогу тварин</a:t>
            </a:r>
          </a:p>
        </p:txBody>
      </p:sp>
      <p:sp>
        <p:nvSpPr>
          <p:cNvPr id="105" name="Shape 9"/>
          <p:cNvSpPr/>
          <p:nvPr/>
        </p:nvSpPr>
        <p:spPr>
          <a:xfrm>
            <a:off x="1024127" y="4690871"/>
            <a:ext cx="118879" cy="118879"/>
          </a:xfrm>
          <a:prstGeom prst="ellipse">
            <a:avLst/>
          </a:prstGeom>
          <a:solidFill>
            <a:srgbClr val="8456F0"/>
          </a:solidFill>
          <a:ln w="12700">
            <a:miter lim="400000"/>
          </a:ln>
        </p:spPr>
        <p:txBody>
          <a:bodyPr lIns="45718" tIns="45718" rIns="45718" bIns="45718"/>
          <a:lstStyle/>
          <a:p>
            <a:pPr/>
          </a:p>
        </p:txBody>
      </p:sp>
      <p:sp>
        <p:nvSpPr>
          <p:cNvPr id="106" name="Text 10"/>
          <p:cNvSpPr txBox="1"/>
          <p:nvPr/>
        </p:nvSpPr>
        <p:spPr>
          <a:xfrm>
            <a:off x="1261872" y="4671874"/>
            <a:ext cx="2633473"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F5F5F"/>
                </a:solidFill>
              </a:defRPr>
            </a:lvl1pPr>
          </a:lstStyle>
          <a:p>
            <a:pPr/>
            <a:r>
              <a:t>Перегляд сторінок притулків</a:t>
            </a:r>
          </a:p>
        </p:txBody>
      </p:sp>
      <p:sp>
        <p:nvSpPr>
          <p:cNvPr id="107" name="Shape 11"/>
          <p:cNvSpPr/>
          <p:nvPr/>
        </p:nvSpPr>
        <p:spPr>
          <a:xfrm>
            <a:off x="1024127" y="5349240"/>
            <a:ext cx="118879" cy="118879"/>
          </a:xfrm>
          <a:prstGeom prst="ellipse">
            <a:avLst/>
          </a:prstGeom>
          <a:solidFill>
            <a:srgbClr val="8456F0"/>
          </a:solidFill>
          <a:ln w="12700">
            <a:miter lim="400000"/>
          </a:ln>
        </p:spPr>
        <p:txBody>
          <a:bodyPr lIns="45718" tIns="45718" rIns="45718" bIns="45718"/>
          <a:lstStyle/>
          <a:p>
            <a:pPr/>
          </a:p>
        </p:txBody>
      </p:sp>
      <p:sp>
        <p:nvSpPr>
          <p:cNvPr id="108" name="Text 12"/>
          <p:cNvSpPr txBox="1"/>
          <p:nvPr/>
        </p:nvSpPr>
        <p:spPr>
          <a:xfrm>
            <a:off x="1271013" y="5330242"/>
            <a:ext cx="26334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F5F5F"/>
                </a:solidFill>
              </a:defRPr>
            </a:lvl1pPr>
          </a:lstStyle>
          <a:p>
            <a:pPr/>
            <a:r>
              <a:t>Читання статей та порад</a:t>
            </a:r>
          </a:p>
        </p:txBody>
      </p:sp>
      <p:sp>
        <p:nvSpPr>
          <p:cNvPr id="109" name="Shape 13"/>
          <p:cNvSpPr/>
          <p:nvPr/>
        </p:nvSpPr>
        <p:spPr>
          <a:xfrm>
            <a:off x="4370832" y="1554480"/>
            <a:ext cx="3502153" cy="4526280"/>
          </a:xfrm>
          <a:prstGeom prst="roundRect">
            <a:avLst>
              <a:gd name="adj" fmla="val 3133"/>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110" name="Shape 14"/>
          <p:cNvSpPr/>
          <p:nvPr/>
        </p:nvSpPr>
        <p:spPr>
          <a:xfrm>
            <a:off x="5618988" y="1965960"/>
            <a:ext cx="1005843" cy="1005843"/>
          </a:xfrm>
          <a:prstGeom prst="ellipse">
            <a:avLst/>
          </a:prstGeom>
          <a:solidFill>
            <a:srgbClr val="6B43C9"/>
          </a:solidFill>
          <a:ln w="12700">
            <a:miter lim="400000"/>
          </a:ln>
        </p:spPr>
        <p:txBody>
          <a:bodyPr lIns="45718" tIns="45718" rIns="45718" bIns="45718"/>
          <a:lstStyle/>
          <a:p>
            <a:pPr/>
          </a:p>
        </p:txBody>
      </p:sp>
      <p:pic>
        <p:nvPicPr>
          <p:cNvPr id="111" name="Image 3" descr="Image 3"/>
          <p:cNvPicPr>
            <a:picLocks noChangeAspect="1"/>
          </p:cNvPicPr>
          <p:nvPr/>
        </p:nvPicPr>
        <p:blipFill>
          <a:blip r:embed="rId4">
            <a:extLst/>
          </a:blip>
          <a:stretch>
            <a:fillRect/>
          </a:stretch>
        </p:blipFill>
        <p:spPr>
          <a:xfrm>
            <a:off x="5847588" y="2194560"/>
            <a:ext cx="548644" cy="548644"/>
          </a:xfrm>
          <a:prstGeom prst="rect">
            <a:avLst/>
          </a:prstGeom>
          <a:ln w="12700">
            <a:miter lim="400000"/>
          </a:ln>
        </p:spPr>
      </p:pic>
      <p:sp>
        <p:nvSpPr>
          <p:cNvPr id="112" name="Text 15"/>
          <p:cNvSpPr txBox="1"/>
          <p:nvPr/>
        </p:nvSpPr>
        <p:spPr>
          <a:xfrm>
            <a:off x="4553710" y="3227027"/>
            <a:ext cx="3136396" cy="54110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95000"/>
              </a:lnSpc>
              <a:defRPr b="1" sz="2000">
                <a:solidFill>
                  <a:srgbClr val="262626"/>
                </a:solidFill>
              </a:defRPr>
            </a:pPr>
            <a:r>
              <a:t>Зареєстрований</a:t>
            </a:r>
          </a:p>
          <a:p>
            <a:pPr algn="ctr">
              <a:lnSpc>
                <a:spcPct val="95000"/>
              </a:lnSpc>
              <a:defRPr b="1" sz="2000">
                <a:solidFill>
                  <a:srgbClr val="262626"/>
                </a:solidFill>
              </a:defRPr>
            </a:pPr>
            <a:r>
              <a:t>користувач</a:t>
            </a:r>
          </a:p>
        </p:txBody>
      </p:sp>
      <p:sp>
        <p:nvSpPr>
          <p:cNvPr id="113" name="Shape 16"/>
          <p:cNvSpPr/>
          <p:nvPr/>
        </p:nvSpPr>
        <p:spPr>
          <a:xfrm>
            <a:off x="4754879" y="4032503"/>
            <a:ext cx="118879" cy="118879"/>
          </a:xfrm>
          <a:prstGeom prst="ellipse">
            <a:avLst/>
          </a:prstGeom>
          <a:solidFill>
            <a:srgbClr val="6B43C9"/>
          </a:solidFill>
          <a:ln w="12700">
            <a:miter lim="400000"/>
          </a:ln>
        </p:spPr>
        <p:txBody>
          <a:bodyPr lIns="45718" tIns="45718" rIns="45718" bIns="45718"/>
          <a:lstStyle/>
          <a:p>
            <a:pPr/>
          </a:p>
        </p:txBody>
      </p:sp>
      <p:sp>
        <p:nvSpPr>
          <p:cNvPr id="114" name="Text 17"/>
          <p:cNvSpPr txBox="1"/>
          <p:nvPr/>
        </p:nvSpPr>
        <p:spPr>
          <a:xfrm>
            <a:off x="4994909" y="4013506"/>
            <a:ext cx="26334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F5F5F"/>
                </a:solidFill>
              </a:defRPr>
            </a:lvl1pPr>
          </a:lstStyle>
          <a:p>
            <a:pPr/>
            <a:r>
              <a:t>Подання заявок на адопцію</a:t>
            </a:r>
          </a:p>
        </p:txBody>
      </p:sp>
      <p:sp>
        <p:nvSpPr>
          <p:cNvPr id="115" name="Shape 18"/>
          <p:cNvSpPr/>
          <p:nvPr/>
        </p:nvSpPr>
        <p:spPr>
          <a:xfrm>
            <a:off x="4754879" y="4690871"/>
            <a:ext cx="118879" cy="118879"/>
          </a:xfrm>
          <a:prstGeom prst="ellipse">
            <a:avLst/>
          </a:prstGeom>
          <a:solidFill>
            <a:srgbClr val="6B43C9"/>
          </a:solidFill>
          <a:ln w="12700">
            <a:miter lim="400000"/>
          </a:ln>
        </p:spPr>
        <p:txBody>
          <a:bodyPr lIns="45718" tIns="45718" rIns="45718" bIns="45718"/>
          <a:lstStyle/>
          <a:p>
            <a:pPr/>
          </a:p>
        </p:txBody>
      </p:sp>
      <p:sp>
        <p:nvSpPr>
          <p:cNvPr id="116" name="Text 19"/>
          <p:cNvSpPr txBox="1"/>
          <p:nvPr/>
        </p:nvSpPr>
        <p:spPr>
          <a:xfrm>
            <a:off x="4992623" y="4671874"/>
            <a:ext cx="26334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F5F5F"/>
                </a:solidFill>
              </a:defRPr>
            </a:lvl1pPr>
          </a:lstStyle>
          <a:p>
            <a:pPr/>
            <a:r>
              <a:t>Додавання тварин до обраного</a:t>
            </a:r>
          </a:p>
        </p:txBody>
      </p:sp>
      <p:sp>
        <p:nvSpPr>
          <p:cNvPr id="117" name="Shape 20"/>
          <p:cNvSpPr/>
          <p:nvPr/>
        </p:nvSpPr>
        <p:spPr>
          <a:xfrm>
            <a:off x="4754879" y="5349240"/>
            <a:ext cx="118879" cy="118879"/>
          </a:xfrm>
          <a:prstGeom prst="ellipse">
            <a:avLst/>
          </a:prstGeom>
          <a:solidFill>
            <a:srgbClr val="6B43C9"/>
          </a:solidFill>
          <a:ln w="12700">
            <a:miter lim="400000"/>
          </a:ln>
        </p:spPr>
        <p:txBody>
          <a:bodyPr lIns="45718" tIns="45718" rIns="45718" bIns="45718"/>
          <a:lstStyle/>
          <a:p>
            <a:pPr/>
          </a:p>
        </p:txBody>
      </p:sp>
      <p:sp>
        <p:nvSpPr>
          <p:cNvPr id="118" name="Text 21"/>
          <p:cNvSpPr txBox="1"/>
          <p:nvPr/>
        </p:nvSpPr>
        <p:spPr>
          <a:xfrm>
            <a:off x="4992623" y="5330242"/>
            <a:ext cx="2633475"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F5F5F"/>
                </a:solidFill>
              </a:defRPr>
            </a:lvl1pPr>
          </a:lstStyle>
          <a:p>
            <a:pPr/>
            <a:r>
              <a:t>Особистий профіль і статуси заявок</a:t>
            </a:r>
          </a:p>
        </p:txBody>
      </p:sp>
      <p:sp>
        <p:nvSpPr>
          <p:cNvPr id="119" name="Shape 22"/>
          <p:cNvSpPr/>
          <p:nvPr/>
        </p:nvSpPr>
        <p:spPr>
          <a:xfrm>
            <a:off x="8101583" y="1554480"/>
            <a:ext cx="3502153" cy="4526280"/>
          </a:xfrm>
          <a:prstGeom prst="roundRect">
            <a:avLst>
              <a:gd name="adj" fmla="val 3133"/>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120" name="Shape 23"/>
          <p:cNvSpPr/>
          <p:nvPr/>
        </p:nvSpPr>
        <p:spPr>
          <a:xfrm>
            <a:off x="9349740" y="1965960"/>
            <a:ext cx="1005843" cy="1005843"/>
          </a:xfrm>
          <a:prstGeom prst="ellipse">
            <a:avLst/>
          </a:prstGeom>
          <a:solidFill>
            <a:srgbClr val="2E1A47"/>
          </a:solidFill>
          <a:ln w="12700">
            <a:miter lim="400000"/>
          </a:ln>
        </p:spPr>
        <p:txBody>
          <a:bodyPr lIns="45718" tIns="45718" rIns="45718" bIns="45718"/>
          <a:lstStyle/>
          <a:p>
            <a:pPr/>
          </a:p>
        </p:txBody>
      </p:sp>
      <p:pic>
        <p:nvPicPr>
          <p:cNvPr id="121" name="Image 4" descr="Image 4"/>
          <p:cNvPicPr>
            <a:picLocks noChangeAspect="1"/>
          </p:cNvPicPr>
          <p:nvPr/>
        </p:nvPicPr>
        <p:blipFill>
          <a:blip r:embed="rId5">
            <a:extLst/>
          </a:blip>
          <a:stretch>
            <a:fillRect/>
          </a:stretch>
        </p:blipFill>
        <p:spPr>
          <a:xfrm>
            <a:off x="9578340" y="2194560"/>
            <a:ext cx="548644" cy="548644"/>
          </a:xfrm>
          <a:prstGeom prst="rect">
            <a:avLst/>
          </a:prstGeom>
          <a:ln w="12700">
            <a:miter lim="400000"/>
          </a:ln>
        </p:spPr>
      </p:pic>
      <p:sp>
        <p:nvSpPr>
          <p:cNvPr id="122" name="Text 24"/>
          <p:cNvSpPr txBox="1"/>
          <p:nvPr/>
        </p:nvSpPr>
        <p:spPr>
          <a:xfrm>
            <a:off x="8284464" y="3373208"/>
            <a:ext cx="3136396"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95000"/>
              </a:lnSpc>
              <a:defRPr b="1" sz="2000">
                <a:solidFill>
                  <a:srgbClr val="262626"/>
                </a:solidFill>
              </a:defRPr>
            </a:lvl1pPr>
          </a:lstStyle>
          <a:p>
            <a:pPr/>
            <a:r>
              <a:t>Адміністратор</a:t>
            </a:r>
          </a:p>
        </p:txBody>
      </p:sp>
      <p:sp>
        <p:nvSpPr>
          <p:cNvPr id="123" name="Shape 25"/>
          <p:cNvSpPr/>
          <p:nvPr/>
        </p:nvSpPr>
        <p:spPr>
          <a:xfrm>
            <a:off x="8485630" y="4032503"/>
            <a:ext cx="118879" cy="118879"/>
          </a:xfrm>
          <a:prstGeom prst="ellipse">
            <a:avLst/>
          </a:prstGeom>
          <a:solidFill>
            <a:srgbClr val="2E1A47"/>
          </a:solidFill>
          <a:ln w="12700">
            <a:miter lim="400000"/>
          </a:ln>
        </p:spPr>
        <p:txBody>
          <a:bodyPr lIns="45718" tIns="45718" rIns="45718" bIns="45718"/>
          <a:lstStyle/>
          <a:p>
            <a:pPr/>
          </a:p>
        </p:txBody>
      </p:sp>
      <p:sp>
        <p:nvSpPr>
          <p:cNvPr id="124" name="Text 26"/>
          <p:cNvSpPr txBox="1"/>
          <p:nvPr/>
        </p:nvSpPr>
        <p:spPr>
          <a:xfrm>
            <a:off x="8725661" y="4023359"/>
            <a:ext cx="2633475"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F5F5F"/>
                </a:solidFill>
              </a:defRPr>
            </a:lvl1pPr>
          </a:lstStyle>
          <a:p>
            <a:pPr/>
            <a:r>
              <a:t>Керування тваринами й притулками</a:t>
            </a:r>
          </a:p>
        </p:txBody>
      </p:sp>
      <p:sp>
        <p:nvSpPr>
          <p:cNvPr id="125" name="Shape 27"/>
          <p:cNvSpPr/>
          <p:nvPr/>
        </p:nvSpPr>
        <p:spPr>
          <a:xfrm>
            <a:off x="8485630" y="4690871"/>
            <a:ext cx="118879" cy="118879"/>
          </a:xfrm>
          <a:prstGeom prst="ellipse">
            <a:avLst/>
          </a:prstGeom>
          <a:solidFill>
            <a:srgbClr val="2E1A47"/>
          </a:solidFill>
          <a:ln w="12700">
            <a:miter lim="400000"/>
          </a:ln>
        </p:spPr>
        <p:txBody>
          <a:bodyPr lIns="45718" tIns="45718" rIns="45718" bIns="45718"/>
          <a:lstStyle/>
          <a:p>
            <a:pPr/>
          </a:p>
        </p:txBody>
      </p:sp>
      <p:sp>
        <p:nvSpPr>
          <p:cNvPr id="126" name="Text 28"/>
          <p:cNvSpPr txBox="1"/>
          <p:nvPr/>
        </p:nvSpPr>
        <p:spPr>
          <a:xfrm>
            <a:off x="8725661" y="4671874"/>
            <a:ext cx="26334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F5F5F"/>
                </a:solidFill>
              </a:defRPr>
            </a:lvl1pPr>
          </a:lstStyle>
          <a:p>
            <a:pPr/>
            <a:r>
              <a:t>Опрацювання заявок на адопцію</a:t>
            </a:r>
          </a:p>
        </p:txBody>
      </p:sp>
      <p:sp>
        <p:nvSpPr>
          <p:cNvPr id="127" name="Shape 29"/>
          <p:cNvSpPr/>
          <p:nvPr/>
        </p:nvSpPr>
        <p:spPr>
          <a:xfrm>
            <a:off x="8485630" y="5349240"/>
            <a:ext cx="118879" cy="118879"/>
          </a:xfrm>
          <a:prstGeom prst="ellipse">
            <a:avLst/>
          </a:prstGeom>
          <a:solidFill>
            <a:srgbClr val="2E1A47"/>
          </a:solidFill>
          <a:ln w="12700">
            <a:miter lim="400000"/>
          </a:ln>
        </p:spPr>
        <p:txBody>
          <a:bodyPr lIns="45718" tIns="45718" rIns="45718" bIns="45718"/>
          <a:lstStyle/>
          <a:p>
            <a:pPr/>
          </a:p>
        </p:txBody>
      </p:sp>
      <p:sp>
        <p:nvSpPr>
          <p:cNvPr id="128" name="Text 30"/>
          <p:cNvSpPr txBox="1"/>
          <p:nvPr/>
        </p:nvSpPr>
        <p:spPr>
          <a:xfrm>
            <a:off x="8725661" y="5234992"/>
            <a:ext cx="2633475"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F5F5F"/>
                </a:solidFill>
              </a:defRPr>
            </a:lvl1pPr>
          </a:lstStyle>
          <a:p>
            <a:pPr/>
            <a:r>
              <a:t>Керування контентом та обліковими записами</a:t>
            </a:r>
          </a:p>
        </p:txBody>
      </p:sp>
      <p:sp>
        <p:nvSpPr>
          <p:cNvPr id="129"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1" name="Image 0" descr="Image 0"/>
          <p:cNvPicPr>
            <a:picLocks noChangeAspect="1"/>
          </p:cNvPicPr>
          <p:nvPr/>
        </p:nvPicPr>
        <p:blipFill>
          <a:blip r:embed="rId2">
            <a:extLst/>
          </a:blip>
          <a:stretch>
            <a:fillRect/>
          </a:stretch>
        </p:blipFill>
        <p:spPr>
          <a:xfrm>
            <a:off x="777240" y="502919"/>
            <a:ext cx="329188" cy="329188"/>
          </a:xfrm>
          <a:prstGeom prst="rect">
            <a:avLst/>
          </a:prstGeom>
          <a:ln w="12700">
            <a:miter lim="400000"/>
          </a:ln>
        </p:spPr>
      </p:pic>
      <p:sp>
        <p:nvSpPr>
          <p:cNvPr id="132" name="Text 0"/>
          <p:cNvSpPr txBox="1"/>
          <p:nvPr/>
        </p:nvSpPr>
        <p:spPr>
          <a:xfrm>
            <a:off x="1252727" y="505697"/>
            <a:ext cx="1051560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1F1F"/>
                </a:solidFill>
              </a:defRPr>
            </a:lvl1pPr>
          </a:lstStyle>
          <a:p>
            <a:pPr/>
            <a:r>
              <a:t>Функціональні вимоги</a:t>
            </a:r>
          </a:p>
        </p:txBody>
      </p:sp>
      <p:sp>
        <p:nvSpPr>
          <p:cNvPr id="133" name="Shape 1"/>
          <p:cNvSpPr/>
          <p:nvPr/>
        </p:nvSpPr>
        <p:spPr>
          <a:xfrm>
            <a:off x="777240" y="1078991"/>
            <a:ext cx="10634472" cy="1"/>
          </a:xfrm>
          <a:prstGeom prst="line">
            <a:avLst/>
          </a:prstGeom>
          <a:ln w="12700">
            <a:solidFill>
              <a:srgbClr val="E6E0F5"/>
            </a:solidFill>
          </a:ln>
        </p:spPr>
        <p:txBody>
          <a:bodyPr lIns="45718" tIns="45718" rIns="45718" bIns="45718"/>
          <a:lstStyle/>
          <a:p>
            <a:pPr/>
          </a:p>
        </p:txBody>
      </p:sp>
      <p:sp>
        <p:nvSpPr>
          <p:cNvPr id="134" name="Text 3"/>
          <p:cNvSpPr txBox="1"/>
          <p:nvPr/>
        </p:nvSpPr>
        <p:spPr>
          <a:xfrm>
            <a:off x="822959" y="1185208"/>
            <a:ext cx="10515601" cy="59223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17999"/>
              </a:lnSpc>
              <a:defRPr sz="1600">
                <a:solidFill>
                  <a:srgbClr val="1F1F1F"/>
                </a:solidFill>
              </a:defRPr>
            </a:lvl1pPr>
          </a:lstStyle>
          <a:p>
            <a:pPr/>
            <a:r>
              <a:t>Функціональні вимоги охоплюють повний цикл взаємодії користувача з платформою — від перегляду каталогу тварин і притулків до подання заявки на адопцію та керування контентом через адміністративну панель.</a:t>
            </a:r>
          </a:p>
        </p:txBody>
      </p:sp>
      <p:pic>
        <p:nvPicPr>
          <p:cNvPr id="135" name="Image 1" descr="Image 1"/>
          <p:cNvPicPr>
            <a:picLocks noChangeAspect="1"/>
          </p:cNvPicPr>
          <p:nvPr/>
        </p:nvPicPr>
        <p:blipFill>
          <a:blip r:embed="rId3">
            <a:extLst/>
          </a:blip>
          <a:stretch>
            <a:fillRect/>
          </a:stretch>
        </p:blipFill>
        <p:spPr>
          <a:xfrm>
            <a:off x="828737" y="2323557"/>
            <a:ext cx="329188" cy="329188"/>
          </a:xfrm>
          <a:prstGeom prst="rect">
            <a:avLst/>
          </a:prstGeom>
          <a:ln w="12700">
            <a:miter lim="400000"/>
          </a:ln>
        </p:spPr>
      </p:pic>
      <p:sp>
        <p:nvSpPr>
          <p:cNvPr id="136" name="Text 4"/>
          <p:cNvSpPr txBox="1"/>
          <p:nvPr/>
        </p:nvSpPr>
        <p:spPr>
          <a:xfrm>
            <a:off x="1304222" y="2282989"/>
            <a:ext cx="484632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1F1F1F"/>
                </a:solidFill>
              </a:defRPr>
            </a:pPr>
            <a:r>
              <a:t>Каталог тварин  </a:t>
            </a:r>
            <a:r>
              <a:rPr>
                <a:solidFill>
                  <a:srgbClr val="8456F0"/>
                </a:solidFill>
              </a:rPr>
              <a:t>FR-02</a:t>
            </a:r>
          </a:p>
        </p:txBody>
      </p:sp>
      <p:sp>
        <p:nvSpPr>
          <p:cNvPr id="137" name="Text 5"/>
          <p:cNvSpPr txBox="1"/>
          <p:nvPr/>
        </p:nvSpPr>
        <p:spPr>
          <a:xfrm>
            <a:off x="1304225" y="2718082"/>
            <a:ext cx="48920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5E5E"/>
                </a:solidFill>
              </a:defRPr>
            </a:lvl1pPr>
          </a:lstStyle>
          <a:p>
            <a:pPr/>
            <a:r>
              <a:t>Перегляд доступних тварин із детальною інформацією</a:t>
            </a:r>
          </a:p>
        </p:txBody>
      </p:sp>
      <p:pic>
        <p:nvPicPr>
          <p:cNvPr id="138" name="Image 2" descr="Image 2"/>
          <p:cNvPicPr>
            <a:picLocks noChangeAspect="1"/>
          </p:cNvPicPr>
          <p:nvPr/>
        </p:nvPicPr>
        <p:blipFill>
          <a:blip r:embed="rId4">
            <a:extLst/>
          </a:blip>
          <a:stretch>
            <a:fillRect/>
          </a:stretch>
        </p:blipFill>
        <p:spPr>
          <a:xfrm>
            <a:off x="6269416" y="2323557"/>
            <a:ext cx="329188" cy="329188"/>
          </a:xfrm>
          <a:prstGeom prst="rect">
            <a:avLst/>
          </a:prstGeom>
          <a:ln w="12700">
            <a:miter lim="400000"/>
          </a:ln>
        </p:spPr>
      </p:pic>
      <p:sp>
        <p:nvSpPr>
          <p:cNvPr id="139" name="Text 6"/>
          <p:cNvSpPr txBox="1"/>
          <p:nvPr/>
        </p:nvSpPr>
        <p:spPr>
          <a:xfrm>
            <a:off x="6744905" y="2282989"/>
            <a:ext cx="4846324"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1F1F1F"/>
                </a:solidFill>
              </a:defRPr>
            </a:pPr>
            <a:r>
              <a:t>Пошук і фільтрація  </a:t>
            </a:r>
            <a:r>
              <a:rPr>
                <a:solidFill>
                  <a:srgbClr val="8456F0"/>
                </a:solidFill>
              </a:rPr>
              <a:t>FR-03</a:t>
            </a:r>
          </a:p>
        </p:txBody>
      </p:sp>
      <p:sp>
        <p:nvSpPr>
          <p:cNvPr id="140" name="Text 7"/>
          <p:cNvSpPr txBox="1"/>
          <p:nvPr/>
        </p:nvSpPr>
        <p:spPr>
          <a:xfrm>
            <a:off x="6744905" y="2718082"/>
            <a:ext cx="48920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5E5E"/>
                </a:solidFill>
              </a:defRPr>
            </a:lvl1pPr>
          </a:lstStyle>
          <a:p>
            <a:pPr/>
            <a:r>
              <a:t>За видом, породою, статтю, віком та іншими ознаками</a:t>
            </a:r>
          </a:p>
        </p:txBody>
      </p:sp>
      <p:pic>
        <p:nvPicPr>
          <p:cNvPr id="141" name="Image 3" descr="Image 3"/>
          <p:cNvPicPr>
            <a:picLocks noChangeAspect="1"/>
          </p:cNvPicPr>
          <p:nvPr/>
        </p:nvPicPr>
        <p:blipFill>
          <a:blip r:embed="rId5">
            <a:extLst/>
          </a:blip>
          <a:stretch>
            <a:fillRect/>
          </a:stretch>
        </p:blipFill>
        <p:spPr>
          <a:xfrm>
            <a:off x="828737" y="3402548"/>
            <a:ext cx="329188" cy="329188"/>
          </a:xfrm>
          <a:prstGeom prst="rect">
            <a:avLst/>
          </a:prstGeom>
          <a:ln w="12700">
            <a:miter lim="400000"/>
          </a:ln>
        </p:spPr>
      </p:pic>
      <p:sp>
        <p:nvSpPr>
          <p:cNvPr id="142" name="Text 8"/>
          <p:cNvSpPr txBox="1"/>
          <p:nvPr/>
        </p:nvSpPr>
        <p:spPr>
          <a:xfrm>
            <a:off x="1304222" y="3361980"/>
            <a:ext cx="484632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1F1F1F"/>
                </a:solidFill>
              </a:defRPr>
            </a:pPr>
            <a:r>
              <a:t>Каталог притулків  </a:t>
            </a:r>
            <a:r>
              <a:rPr>
                <a:solidFill>
                  <a:srgbClr val="8456F0"/>
                </a:solidFill>
              </a:rPr>
              <a:t>FR-04</a:t>
            </a:r>
          </a:p>
        </p:txBody>
      </p:sp>
      <p:sp>
        <p:nvSpPr>
          <p:cNvPr id="143" name="Text 9"/>
          <p:cNvSpPr txBox="1"/>
          <p:nvPr/>
        </p:nvSpPr>
        <p:spPr>
          <a:xfrm>
            <a:off x="1304225" y="3797073"/>
            <a:ext cx="48920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5E5E"/>
                </a:solidFill>
              </a:defRPr>
            </a:lvl1pPr>
          </a:lstStyle>
          <a:p>
            <a:pPr/>
            <a:r>
              <a:t>Сторінки притулків та перелік доступних у них тварин</a:t>
            </a:r>
          </a:p>
        </p:txBody>
      </p:sp>
      <p:pic>
        <p:nvPicPr>
          <p:cNvPr id="144" name="Image 4" descr="Image 4"/>
          <p:cNvPicPr>
            <a:picLocks noChangeAspect="1"/>
          </p:cNvPicPr>
          <p:nvPr/>
        </p:nvPicPr>
        <p:blipFill>
          <a:blip r:embed="rId6">
            <a:extLst/>
          </a:blip>
          <a:stretch>
            <a:fillRect/>
          </a:stretch>
        </p:blipFill>
        <p:spPr>
          <a:xfrm>
            <a:off x="6269416" y="3402548"/>
            <a:ext cx="329188" cy="329188"/>
          </a:xfrm>
          <a:prstGeom prst="rect">
            <a:avLst/>
          </a:prstGeom>
          <a:ln w="12700">
            <a:miter lim="400000"/>
          </a:ln>
        </p:spPr>
      </p:pic>
      <p:sp>
        <p:nvSpPr>
          <p:cNvPr id="145" name="Text 10"/>
          <p:cNvSpPr txBox="1"/>
          <p:nvPr/>
        </p:nvSpPr>
        <p:spPr>
          <a:xfrm>
            <a:off x="6744905" y="3361980"/>
            <a:ext cx="4846324"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1F1F1F"/>
                </a:solidFill>
              </a:defRPr>
            </a:pPr>
            <a:r>
              <a:t>Реєстрація та авторизація  </a:t>
            </a:r>
            <a:r>
              <a:rPr>
                <a:solidFill>
                  <a:srgbClr val="8456F0"/>
                </a:solidFill>
              </a:rPr>
              <a:t>FR-05</a:t>
            </a:r>
          </a:p>
        </p:txBody>
      </p:sp>
      <p:sp>
        <p:nvSpPr>
          <p:cNvPr id="146" name="Text 11"/>
          <p:cNvSpPr txBox="1"/>
          <p:nvPr/>
        </p:nvSpPr>
        <p:spPr>
          <a:xfrm>
            <a:off x="6744905" y="3797073"/>
            <a:ext cx="48920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5E5E"/>
                </a:solidFill>
              </a:defRPr>
            </a:lvl1pPr>
          </a:lstStyle>
          <a:p>
            <a:pPr/>
            <a:r>
              <a:t>Захищений механізм аутентифікації користувачів</a:t>
            </a:r>
          </a:p>
        </p:txBody>
      </p:sp>
      <p:pic>
        <p:nvPicPr>
          <p:cNvPr id="147" name="Image 5" descr="Image 5"/>
          <p:cNvPicPr>
            <a:picLocks noChangeAspect="1"/>
          </p:cNvPicPr>
          <p:nvPr/>
        </p:nvPicPr>
        <p:blipFill>
          <a:blip r:embed="rId7">
            <a:extLst/>
          </a:blip>
          <a:stretch>
            <a:fillRect/>
          </a:stretch>
        </p:blipFill>
        <p:spPr>
          <a:xfrm>
            <a:off x="828737" y="4481541"/>
            <a:ext cx="329188" cy="329188"/>
          </a:xfrm>
          <a:prstGeom prst="rect">
            <a:avLst/>
          </a:prstGeom>
          <a:ln w="12700">
            <a:miter lim="400000"/>
          </a:ln>
        </p:spPr>
      </p:pic>
      <p:sp>
        <p:nvSpPr>
          <p:cNvPr id="148" name="Text 12"/>
          <p:cNvSpPr txBox="1"/>
          <p:nvPr/>
        </p:nvSpPr>
        <p:spPr>
          <a:xfrm>
            <a:off x="1304222" y="4440971"/>
            <a:ext cx="4846327"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1F1F1F"/>
                </a:solidFill>
              </a:defRPr>
            </a:pPr>
            <a:r>
              <a:t>Заявки на адопцію  </a:t>
            </a:r>
            <a:r>
              <a:rPr>
                <a:solidFill>
                  <a:srgbClr val="8456F0"/>
                </a:solidFill>
              </a:rPr>
              <a:t>FR-06</a:t>
            </a:r>
          </a:p>
        </p:txBody>
      </p:sp>
      <p:sp>
        <p:nvSpPr>
          <p:cNvPr id="149" name="Text 13"/>
          <p:cNvSpPr txBox="1"/>
          <p:nvPr/>
        </p:nvSpPr>
        <p:spPr>
          <a:xfrm>
            <a:off x="1304225" y="4876065"/>
            <a:ext cx="48920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5E5E"/>
                </a:solidFill>
              </a:defRPr>
            </a:lvl1pPr>
          </a:lstStyle>
          <a:p>
            <a:pPr/>
            <a:r>
              <a:t>Подання заявки онлайн та відстеження її статусу</a:t>
            </a:r>
          </a:p>
        </p:txBody>
      </p:sp>
      <p:pic>
        <p:nvPicPr>
          <p:cNvPr id="150" name="Image 6" descr="Image 6"/>
          <p:cNvPicPr>
            <a:picLocks noChangeAspect="1"/>
          </p:cNvPicPr>
          <p:nvPr/>
        </p:nvPicPr>
        <p:blipFill>
          <a:blip r:embed="rId8">
            <a:extLst/>
          </a:blip>
          <a:stretch>
            <a:fillRect/>
          </a:stretch>
        </p:blipFill>
        <p:spPr>
          <a:xfrm>
            <a:off x="6269416" y="4481541"/>
            <a:ext cx="329188" cy="329188"/>
          </a:xfrm>
          <a:prstGeom prst="rect">
            <a:avLst/>
          </a:prstGeom>
          <a:ln w="12700">
            <a:miter lim="400000"/>
          </a:ln>
        </p:spPr>
      </p:pic>
      <p:sp>
        <p:nvSpPr>
          <p:cNvPr id="151" name="Text 14"/>
          <p:cNvSpPr txBox="1"/>
          <p:nvPr/>
        </p:nvSpPr>
        <p:spPr>
          <a:xfrm>
            <a:off x="6744905" y="4440971"/>
            <a:ext cx="4846324"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1F1F1F"/>
                </a:solidFill>
              </a:defRPr>
            </a:pPr>
            <a:r>
              <a:t>Додавання до обраного  </a:t>
            </a:r>
            <a:r>
              <a:rPr>
                <a:solidFill>
                  <a:srgbClr val="8456F0"/>
                </a:solidFill>
              </a:rPr>
              <a:t>FR-07</a:t>
            </a:r>
          </a:p>
        </p:txBody>
      </p:sp>
      <p:sp>
        <p:nvSpPr>
          <p:cNvPr id="152" name="Text 15"/>
          <p:cNvSpPr txBox="1"/>
          <p:nvPr/>
        </p:nvSpPr>
        <p:spPr>
          <a:xfrm>
            <a:off x="6744905" y="4876065"/>
            <a:ext cx="48920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5E5E"/>
                </a:solidFill>
              </a:defRPr>
            </a:lvl1pPr>
          </a:lstStyle>
          <a:p>
            <a:pPr/>
            <a:r>
              <a:t>Швидкий доступ до збережених тварин</a:t>
            </a:r>
          </a:p>
        </p:txBody>
      </p:sp>
      <p:pic>
        <p:nvPicPr>
          <p:cNvPr id="153" name="Image 7" descr="Image 7"/>
          <p:cNvPicPr>
            <a:picLocks noChangeAspect="1"/>
          </p:cNvPicPr>
          <p:nvPr/>
        </p:nvPicPr>
        <p:blipFill>
          <a:blip r:embed="rId9">
            <a:extLst/>
          </a:blip>
          <a:stretch>
            <a:fillRect/>
          </a:stretch>
        </p:blipFill>
        <p:spPr>
          <a:xfrm>
            <a:off x="828737" y="5560533"/>
            <a:ext cx="329188" cy="329188"/>
          </a:xfrm>
          <a:prstGeom prst="rect">
            <a:avLst/>
          </a:prstGeom>
          <a:ln w="12700">
            <a:miter lim="400000"/>
          </a:ln>
        </p:spPr>
      </p:pic>
      <p:sp>
        <p:nvSpPr>
          <p:cNvPr id="154" name="Text 16"/>
          <p:cNvSpPr txBox="1"/>
          <p:nvPr/>
        </p:nvSpPr>
        <p:spPr>
          <a:xfrm>
            <a:off x="1304222" y="5519964"/>
            <a:ext cx="4846327"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1F1F1F"/>
                </a:solidFill>
              </a:defRPr>
            </a:pPr>
            <a:r>
              <a:t>Профіль користувача  </a:t>
            </a:r>
            <a:r>
              <a:rPr>
                <a:solidFill>
                  <a:srgbClr val="8456F0"/>
                </a:solidFill>
              </a:rPr>
              <a:t>FR-08</a:t>
            </a:r>
          </a:p>
        </p:txBody>
      </p:sp>
      <p:sp>
        <p:nvSpPr>
          <p:cNvPr id="155" name="Text 17"/>
          <p:cNvSpPr txBox="1"/>
          <p:nvPr/>
        </p:nvSpPr>
        <p:spPr>
          <a:xfrm>
            <a:off x="1304225" y="5955057"/>
            <a:ext cx="48920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5E5E"/>
                </a:solidFill>
              </a:defRPr>
            </a:lvl1pPr>
          </a:lstStyle>
          <a:p>
            <a:pPr/>
            <a:r>
              <a:t>Власні заявки, обрані та адоптовані тварини</a:t>
            </a:r>
          </a:p>
        </p:txBody>
      </p:sp>
      <p:pic>
        <p:nvPicPr>
          <p:cNvPr id="156" name="Image 8" descr="Image 8"/>
          <p:cNvPicPr>
            <a:picLocks noChangeAspect="1"/>
          </p:cNvPicPr>
          <p:nvPr/>
        </p:nvPicPr>
        <p:blipFill>
          <a:blip r:embed="rId10">
            <a:extLst/>
          </a:blip>
          <a:stretch>
            <a:fillRect/>
          </a:stretch>
        </p:blipFill>
        <p:spPr>
          <a:xfrm>
            <a:off x="6269416" y="5560533"/>
            <a:ext cx="329188" cy="329188"/>
          </a:xfrm>
          <a:prstGeom prst="rect">
            <a:avLst/>
          </a:prstGeom>
          <a:ln w="12700">
            <a:miter lim="400000"/>
          </a:ln>
        </p:spPr>
      </p:pic>
      <p:sp>
        <p:nvSpPr>
          <p:cNvPr id="157" name="Text 18"/>
          <p:cNvSpPr txBox="1"/>
          <p:nvPr/>
        </p:nvSpPr>
        <p:spPr>
          <a:xfrm>
            <a:off x="6744905" y="5519964"/>
            <a:ext cx="4846324"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1F1F1F"/>
                </a:solidFill>
              </a:defRPr>
            </a:pPr>
            <a:r>
              <a:t>Адміністративна панель  </a:t>
            </a:r>
            <a:r>
              <a:rPr>
                <a:solidFill>
                  <a:srgbClr val="8456F0"/>
                </a:solidFill>
              </a:rPr>
              <a:t>FR-10</a:t>
            </a:r>
          </a:p>
        </p:txBody>
      </p:sp>
      <p:sp>
        <p:nvSpPr>
          <p:cNvPr id="158" name="Text 19"/>
          <p:cNvSpPr txBox="1"/>
          <p:nvPr/>
        </p:nvSpPr>
        <p:spPr>
          <a:xfrm>
            <a:off x="6744905" y="5955057"/>
            <a:ext cx="48920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5E5E5E"/>
                </a:solidFill>
              </a:defRPr>
            </a:lvl1pPr>
          </a:lstStyle>
          <a:p>
            <a:pPr/>
            <a:r>
              <a:t>Керування тваринами, притулками й контентом</a:t>
            </a:r>
          </a:p>
        </p:txBody>
      </p:sp>
      <p:sp>
        <p:nvSpPr>
          <p:cNvPr id="159"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1" name="Image 0" descr="Image 0"/>
          <p:cNvPicPr>
            <a:picLocks noChangeAspect="1"/>
          </p:cNvPicPr>
          <p:nvPr/>
        </p:nvPicPr>
        <p:blipFill>
          <a:blip r:embed="rId2">
            <a:extLst/>
          </a:blip>
          <a:stretch>
            <a:fillRect/>
          </a:stretch>
        </p:blipFill>
        <p:spPr>
          <a:xfrm>
            <a:off x="777240" y="502919"/>
            <a:ext cx="329188" cy="329188"/>
          </a:xfrm>
          <a:prstGeom prst="rect">
            <a:avLst/>
          </a:prstGeom>
          <a:ln w="12700">
            <a:miter lim="400000"/>
          </a:ln>
        </p:spPr>
      </p:pic>
      <p:sp>
        <p:nvSpPr>
          <p:cNvPr id="162" name="Text 0"/>
          <p:cNvSpPr txBox="1"/>
          <p:nvPr/>
        </p:nvSpPr>
        <p:spPr>
          <a:xfrm>
            <a:off x="1252727" y="505697"/>
            <a:ext cx="1051560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1F1F"/>
                </a:solidFill>
              </a:defRPr>
            </a:lvl1pPr>
          </a:lstStyle>
          <a:p>
            <a:pPr/>
            <a:r>
              <a:t>Технологічний стек</a:t>
            </a:r>
          </a:p>
        </p:txBody>
      </p:sp>
      <p:sp>
        <p:nvSpPr>
          <p:cNvPr id="163" name="Shape 1"/>
          <p:cNvSpPr/>
          <p:nvPr/>
        </p:nvSpPr>
        <p:spPr>
          <a:xfrm>
            <a:off x="778762" y="946591"/>
            <a:ext cx="10634475" cy="1"/>
          </a:xfrm>
          <a:prstGeom prst="line">
            <a:avLst/>
          </a:prstGeom>
          <a:ln w="12700">
            <a:solidFill>
              <a:srgbClr val="E6E0F5"/>
            </a:solidFill>
          </a:ln>
        </p:spPr>
        <p:txBody>
          <a:bodyPr lIns="45718" tIns="45718" rIns="45718" bIns="45718"/>
          <a:lstStyle/>
          <a:p>
            <a:pPr/>
          </a:p>
        </p:txBody>
      </p:sp>
      <p:sp>
        <p:nvSpPr>
          <p:cNvPr id="164" name="Text 3"/>
          <p:cNvSpPr txBox="1"/>
          <p:nvPr/>
        </p:nvSpPr>
        <p:spPr>
          <a:xfrm>
            <a:off x="633436" y="1058886"/>
            <a:ext cx="11245267" cy="80234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17999"/>
              </a:lnSpc>
              <a:defRPr sz="1500">
                <a:solidFill>
                  <a:srgbClr val="1F1F1F"/>
                </a:solidFill>
              </a:defRPr>
            </a:lvl1pPr>
          </a:lstStyle>
          <a:p>
            <a:pPr/>
            <a:r>
              <a:t>Систему реалізовано за технологією розділення на клієнтську та серверну частини, що взаємодіють через REST API. Вибір технологій обумовлений їх популярністю, розвиненою екосистемою, продуктивністю та можливістю використання єдиної мови програмування на клієнті й сервері.</a:t>
            </a:r>
          </a:p>
        </p:txBody>
      </p:sp>
      <p:sp>
        <p:nvSpPr>
          <p:cNvPr id="165" name="Shape 4"/>
          <p:cNvSpPr/>
          <p:nvPr/>
        </p:nvSpPr>
        <p:spPr>
          <a:xfrm>
            <a:off x="627204" y="1919192"/>
            <a:ext cx="2697485" cy="4480562"/>
          </a:xfrm>
          <a:prstGeom prst="roundRect">
            <a:avLst>
              <a:gd name="adj" fmla="val 4068"/>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166" name="Shape 5"/>
          <p:cNvSpPr/>
          <p:nvPr/>
        </p:nvSpPr>
        <p:spPr>
          <a:xfrm>
            <a:off x="627204" y="1919192"/>
            <a:ext cx="2697485" cy="1280164"/>
          </a:xfrm>
          <a:prstGeom prst="roundRect">
            <a:avLst>
              <a:gd name="adj" fmla="val 8571"/>
            </a:avLst>
          </a:prstGeom>
          <a:solidFill>
            <a:srgbClr val="8456F0"/>
          </a:solidFill>
          <a:ln w="12700">
            <a:miter lim="400000"/>
          </a:ln>
        </p:spPr>
        <p:txBody>
          <a:bodyPr lIns="45718" tIns="45718" rIns="45718" bIns="45718"/>
          <a:lstStyle/>
          <a:p>
            <a:pPr/>
          </a:p>
        </p:txBody>
      </p:sp>
      <p:sp>
        <p:nvSpPr>
          <p:cNvPr id="167" name="Shape 6"/>
          <p:cNvSpPr/>
          <p:nvPr/>
        </p:nvSpPr>
        <p:spPr>
          <a:xfrm>
            <a:off x="627204" y="2650712"/>
            <a:ext cx="2697485" cy="548644"/>
          </a:xfrm>
          <a:prstGeom prst="rect">
            <a:avLst/>
          </a:prstGeom>
          <a:solidFill>
            <a:srgbClr val="8456F0"/>
          </a:solidFill>
          <a:ln w="12700">
            <a:miter lim="400000"/>
          </a:ln>
        </p:spPr>
        <p:txBody>
          <a:bodyPr lIns="45718" tIns="45718" rIns="45718" bIns="45718"/>
          <a:lstStyle/>
          <a:p>
            <a:pPr/>
          </a:p>
        </p:txBody>
      </p:sp>
      <p:pic>
        <p:nvPicPr>
          <p:cNvPr id="168" name="Image 2" descr="Image 2"/>
          <p:cNvPicPr>
            <a:picLocks noChangeAspect="1"/>
          </p:cNvPicPr>
          <p:nvPr/>
        </p:nvPicPr>
        <p:blipFill>
          <a:blip r:embed="rId3">
            <a:extLst/>
          </a:blip>
          <a:stretch>
            <a:fillRect/>
          </a:stretch>
        </p:blipFill>
        <p:spPr>
          <a:xfrm>
            <a:off x="1701625" y="2147792"/>
            <a:ext cx="548641" cy="548644"/>
          </a:xfrm>
          <a:prstGeom prst="rect">
            <a:avLst/>
          </a:prstGeom>
          <a:ln w="12700">
            <a:miter lim="400000"/>
          </a:ln>
        </p:spPr>
      </p:pic>
      <p:sp>
        <p:nvSpPr>
          <p:cNvPr id="169" name="Text 7"/>
          <p:cNvSpPr txBox="1"/>
          <p:nvPr/>
        </p:nvSpPr>
        <p:spPr>
          <a:xfrm>
            <a:off x="718642" y="2838744"/>
            <a:ext cx="2514606"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FFFFF"/>
                </a:solidFill>
              </a:defRPr>
            </a:lvl1pPr>
          </a:lstStyle>
          <a:p>
            <a:pPr/>
            <a:r>
              <a:t>Клієнтська частина</a:t>
            </a:r>
          </a:p>
        </p:txBody>
      </p:sp>
      <p:sp>
        <p:nvSpPr>
          <p:cNvPr id="170" name="Shape 8"/>
          <p:cNvSpPr/>
          <p:nvPr/>
        </p:nvSpPr>
        <p:spPr>
          <a:xfrm>
            <a:off x="901525" y="3473674"/>
            <a:ext cx="2148841" cy="566930"/>
          </a:xfrm>
          <a:prstGeom prst="roundRect">
            <a:avLst>
              <a:gd name="adj" fmla="val 12903"/>
            </a:avLst>
          </a:prstGeom>
          <a:solidFill>
            <a:srgbClr val="F4EEFF"/>
          </a:solidFill>
          <a:ln w="12700">
            <a:miter lim="400000"/>
          </a:ln>
        </p:spPr>
        <p:txBody>
          <a:bodyPr lIns="45718" tIns="45718" rIns="45718" bIns="45718"/>
          <a:lstStyle/>
          <a:p>
            <a:pPr/>
          </a:p>
        </p:txBody>
      </p:sp>
      <p:sp>
        <p:nvSpPr>
          <p:cNvPr id="171" name="Text 9"/>
          <p:cNvSpPr txBox="1"/>
          <p:nvPr/>
        </p:nvSpPr>
        <p:spPr>
          <a:xfrm>
            <a:off x="901525" y="3662456"/>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Next.js</a:t>
            </a:r>
          </a:p>
        </p:txBody>
      </p:sp>
      <p:sp>
        <p:nvSpPr>
          <p:cNvPr id="172" name="Shape 10"/>
          <p:cNvSpPr/>
          <p:nvPr/>
        </p:nvSpPr>
        <p:spPr>
          <a:xfrm>
            <a:off x="901525" y="4186904"/>
            <a:ext cx="2148841" cy="566932"/>
          </a:xfrm>
          <a:prstGeom prst="roundRect">
            <a:avLst>
              <a:gd name="adj" fmla="val 12903"/>
            </a:avLst>
          </a:prstGeom>
          <a:solidFill>
            <a:srgbClr val="F4EEFF"/>
          </a:solidFill>
          <a:ln w="12700">
            <a:miter lim="400000"/>
          </a:ln>
        </p:spPr>
        <p:txBody>
          <a:bodyPr lIns="45718" tIns="45718" rIns="45718" bIns="45718"/>
          <a:lstStyle/>
          <a:p>
            <a:pPr/>
          </a:p>
        </p:txBody>
      </p:sp>
      <p:sp>
        <p:nvSpPr>
          <p:cNvPr id="173" name="Text 11"/>
          <p:cNvSpPr txBox="1"/>
          <p:nvPr/>
        </p:nvSpPr>
        <p:spPr>
          <a:xfrm>
            <a:off x="901525" y="4375688"/>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React</a:t>
            </a:r>
          </a:p>
        </p:txBody>
      </p:sp>
      <p:sp>
        <p:nvSpPr>
          <p:cNvPr id="174" name="Shape 12"/>
          <p:cNvSpPr/>
          <p:nvPr/>
        </p:nvSpPr>
        <p:spPr>
          <a:xfrm>
            <a:off x="901525" y="4900136"/>
            <a:ext cx="2148841" cy="566932"/>
          </a:xfrm>
          <a:prstGeom prst="roundRect">
            <a:avLst>
              <a:gd name="adj" fmla="val 12903"/>
            </a:avLst>
          </a:prstGeom>
          <a:solidFill>
            <a:srgbClr val="F4EEFF"/>
          </a:solidFill>
          <a:ln w="12700">
            <a:miter lim="400000"/>
          </a:ln>
        </p:spPr>
        <p:txBody>
          <a:bodyPr lIns="45718" tIns="45718" rIns="45718" bIns="45718"/>
          <a:lstStyle/>
          <a:p>
            <a:pPr/>
          </a:p>
        </p:txBody>
      </p:sp>
      <p:sp>
        <p:nvSpPr>
          <p:cNvPr id="175" name="Text 13"/>
          <p:cNvSpPr txBox="1"/>
          <p:nvPr/>
        </p:nvSpPr>
        <p:spPr>
          <a:xfrm>
            <a:off x="901525" y="5088921"/>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TypeScript</a:t>
            </a:r>
          </a:p>
        </p:txBody>
      </p:sp>
      <p:sp>
        <p:nvSpPr>
          <p:cNvPr id="176" name="Shape 14"/>
          <p:cNvSpPr/>
          <p:nvPr/>
        </p:nvSpPr>
        <p:spPr>
          <a:xfrm>
            <a:off x="901525" y="5613367"/>
            <a:ext cx="2148841" cy="566932"/>
          </a:xfrm>
          <a:prstGeom prst="roundRect">
            <a:avLst>
              <a:gd name="adj" fmla="val 12903"/>
            </a:avLst>
          </a:prstGeom>
          <a:solidFill>
            <a:srgbClr val="F4EEFF"/>
          </a:solidFill>
          <a:ln w="12700">
            <a:miter lim="400000"/>
          </a:ln>
        </p:spPr>
        <p:txBody>
          <a:bodyPr lIns="45718" tIns="45718" rIns="45718" bIns="45718"/>
          <a:lstStyle/>
          <a:p>
            <a:pPr/>
          </a:p>
        </p:txBody>
      </p:sp>
      <p:sp>
        <p:nvSpPr>
          <p:cNvPr id="177" name="Text 15"/>
          <p:cNvSpPr txBox="1"/>
          <p:nvPr/>
        </p:nvSpPr>
        <p:spPr>
          <a:xfrm>
            <a:off x="901525" y="5802153"/>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Tailwind CSS</a:t>
            </a:r>
          </a:p>
        </p:txBody>
      </p:sp>
      <p:sp>
        <p:nvSpPr>
          <p:cNvPr id="178" name="Shape 16"/>
          <p:cNvSpPr/>
          <p:nvPr/>
        </p:nvSpPr>
        <p:spPr>
          <a:xfrm>
            <a:off x="3489276" y="1919192"/>
            <a:ext cx="2697485" cy="4480562"/>
          </a:xfrm>
          <a:prstGeom prst="roundRect">
            <a:avLst>
              <a:gd name="adj" fmla="val 4068"/>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179" name="Shape 17"/>
          <p:cNvSpPr/>
          <p:nvPr/>
        </p:nvSpPr>
        <p:spPr>
          <a:xfrm>
            <a:off x="3489276" y="1919192"/>
            <a:ext cx="2697485" cy="1280164"/>
          </a:xfrm>
          <a:prstGeom prst="roundRect">
            <a:avLst>
              <a:gd name="adj" fmla="val 8571"/>
            </a:avLst>
          </a:prstGeom>
          <a:solidFill>
            <a:srgbClr val="6B43C9"/>
          </a:solidFill>
          <a:ln w="12700">
            <a:miter lim="400000"/>
          </a:ln>
        </p:spPr>
        <p:txBody>
          <a:bodyPr lIns="45718" tIns="45718" rIns="45718" bIns="45718"/>
          <a:lstStyle/>
          <a:p>
            <a:pPr/>
          </a:p>
        </p:txBody>
      </p:sp>
      <p:sp>
        <p:nvSpPr>
          <p:cNvPr id="180" name="Shape 18"/>
          <p:cNvSpPr/>
          <p:nvPr/>
        </p:nvSpPr>
        <p:spPr>
          <a:xfrm>
            <a:off x="3489276" y="2650712"/>
            <a:ext cx="2697485" cy="548644"/>
          </a:xfrm>
          <a:prstGeom prst="rect">
            <a:avLst/>
          </a:prstGeom>
          <a:solidFill>
            <a:srgbClr val="6B43C9"/>
          </a:solidFill>
          <a:ln w="12700">
            <a:miter lim="400000"/>
          </a:ln>
        </p:spPr>
        <p:txBody>
          <a:bodyPr lIns="45718" tIns="45718" rIns="45718" bIns="45718"/>
          <a:lstStyle/>
          <a:p>
            <a:pPr/>
          </a:p>
        </p:txBody>
      </p:sp>
      <p:pic>
        <p:nvPicPr>
          <p:cNvPr id="181" name="Image 3" descr="Image 3"/>
          <p:cNvPicPr>
            <a:picLocks noChangeAspect="1"/>
          </p:cNvPicPr>
          <p:nvPr/>
        </p:nvPicPr>
        <p:blipFill>
          <a:blip r:embed="rId4">
            <a:extLst/>
          </a:blip>
          <a:stretch>
            <a:fillRect/>
          </a:stretch>
        </p:blipFill>
        <p:spPr>
          <a:xfrm>
            <a:off x="4563697" y="2147792"/>
            <a:ext cx="548641" cy="548644"/>
          </a:xfrm>
          <a:prstGeom prst="rect">
            <a:avLst/>
          </a:prstGeom>
          <a:ln w="12700">
            <a:miter lim="400000"/>
          </a:ln>
        </p:spPr>
      </p:pic>
      <p:sp>
        <p:nvSpPr>
          <p:cNvPr id="182" name="Text 19"/>
          <p:cNvSpPr txBox="1"/>
          <p:nvPr/>
        </p:nvSpPr>
        <p:spPr>
          <a:xfrm>
            <a:off x="3580717" y="2838744"/>
            <a:ext cx="2514603"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FFFFF"/>
                </a:solidFill>
              </a:defRPr>
            </a:lvl1pPr>
          </a:lstStyle>
          <a:p>
            <a:pPr/>
            <a:r>
              <a:t>Серверна частина</a:t>
            </a:r>
          </a:p>
        </p:txBody>
      </p:sp>
      <p:sp>
        <p:nvSpPr>
          <p:cNvPr id="183" name="Shape 20"/>
          <p:cNvSpPr/>
          <p:nvPr/>
        </p:nvSpPr>
        <p:spPr>
          <a:xfrm>
            <a:off x="3763597" y="3473674"/>
            <a:ext cx="2148841" cy="566930"/>
          </a:xfrm>
          <a:prstGeom prst="roundRect">
            <a:avLst>
              <a:gd name="adj" fmla="val 12903"/>
            </a:avLst>
          </a:prstGeom>
          <a:solidFill>
            <a:srgbClr val="F4EEFF"/>
          </a:solidFill>
          <a:ln w="12700">
            <a:miter lim="400000"/>
          </a:ln>
        </p:spPr>
        <p:txBody>
          <a:bodyPr lIns="45718" tIns="45718" rIns="45718" bIns="45718"/>
          <a:lstStyle/>
          <a:p>
            <a:pPr/>
          </a:p>
        </p:txBody>
      </p:sp>
      <p:sp>
        <p:nvSpPr>
          <p:cNvPr id="184" name="Text 21"/>
          <p:cNvSpPr txBox="1"/>
          <p:nvPr/>
        </p:nvSpPr>
        <p:spPr>
          <a:xfrm>
            <a:off x="3763597" y="3662456"/>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Node.js</a:t>
            </a:r>
          </a:p>
        </p:txBody>
      </p:sp>
      <p:sp>
        <p:nvSpPr>
          <p:cNvPr id="185" name="Shape 22"/>
          <p:cNvSpPr/>
          <p:nvPr/>
        </p:nvSpPr>
        <p:spPr>
          <a:xfrm>
            <a:off x="3763597" y="4186904"/>
            <a:ext cx="2148841" cy="566932"/>
          </a:xfrm>
          <a:prstGeom prst="roundRect">
            <a:avLst>
              <a:gd name="adj" fmla="val 12903"/>
            </a:avLst>
          </a:prstGeom>
          <a:solidFill>
            <a:srgbClr val="F4EEFF"/>
          </a:solidFill>
          <a:ln w="12700">
            <a:miter lim="400000"/>
          </a:ln>
        </p:spPr>
        <p:txBody>
          <a:bodyPr lIns="45718" tIns="45718" rIns="45718" bIns="45718"/>
          <a:lstStyle/>
          <a:p>
            <a:pPr/>
          </a:p>
        </p:txBody>
      </p:sp>
      <p:sp>
        <p:nvSpPr>
          <p:cNvPr id="186" name="Text 23"/>
          <p:cNvSpPr txBox="1"/>
          <p:nvPr/>
        </p:nvSpPr>
        <p:spPr>
          <a:xfrm>
            <a:off x="3763597" y="4375688"/>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Express</a:t>
            </a:r>
          </a:p>
        </p:txBody>
      </p:sp>
      <p:sp>
        <p:nvSpPr>
          <p:cNvPr id="187" name="Shape 24"/>
          <p:cNvSpPr/>
          <p:nvPr/>
        </p:nvSpPr>
        <p:spPr>
          <a:xfrm>
            <a:off x="3763597" y="4900136"/>
            <a:ext cx="2148841" cy="566932"/>
          </a:xfrm>
          <a:prstGeom prst="roundRect">
            <a:avLst>
              <a:gd name="adj" fmla="val 12903"/>
            </a:avLst>
          </a:prstGeom>
          <a:solidFill>
            <a:srgbClr val="F4EEFF"/>
          </a:solidFill>
          <a:ln w="12700">
            <a:miter lim="400000"/>
          </a:ln>
        </p:spPr>
        <p:txBody>
          <a:bodyPr lIns="45718" tIns="45718" rIns="45718" bIns="45718"/>
          <a:lstStyle/>
          <a:p>
            <a:pPr/>
          </a:p>
        </p:txBody>
      </p:sp>
      <p:sp>
        <p:nvSpPr>
          <p:cNvPr id="188" name="Text 25"/>
          <p:cNvSpPr txBox="1"/>
          <p:nvPr/>
        </p:nvSpPr>
        <p:spPr>
          <a:xfrm>
            <a:off x="3763597" y="5088921"/>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JWT</a:t>
            </a:r>
          </a:p>
        </p:txBody>
      </p:sp>
      <p:sp>
        <p:nvSpPr>
          <p:cNvPr id="189" name="Shape 26"/>
          <p:cNvSpPr/>
          <p:nvPr/>
        </p:nvSpPr>
        <p:spPr>
          <a:xfrm>
            <a:off x="3763597" y="5613367"/>
            <a:ext cx="2148841" cy="566932"/>
          </a:xfrm>
          <a:prstGeom prst="roundRect">
            <a:avLst>
              <a:gd name="adj" fmla="val 12903"/>
            </a:avLst>
          </a:prstGeom>
          <a:solidFill>
            <a:srgbClr val="F4EEFF"/>
          </a:solidFill>
          <a:ln w="12700">
            <a:miter lim="400000"/>
          </a:ln>
        </p:spPr>
        <p:txBody>
          <a:bodyPr lIns="45718" tIns="45718" rIns="45718" bIns="45718"/>
          <a:lstStyle/>
          <a:p>
            <a:pPr/>
          </a:p>
        </p:txBody>
      </p:sp>
      <p:sp>
        <p:nvSpPr>
          <p:cNvPr id="190" name="Text 27"/>
          <p:cNvSpPr txBox="1"/>
          <p:nvPr/>
        </p:nvSpPr>
        <p:spPr>
          <a:xfrm>
            <a:off x="3763597" y="5802153"/>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Zod</a:t>
            </a:r>
          </a:p>
        </p:txBody>
      </p:sp>
      <p:sp>
        <p:nvSpPr>
          <p:cNvPr id="191" name="Shape 28"/>
          <p:cNvSpPr/>
          <p:nvPr/>
        </p:nvSpPr>
        <p:spPr>
          <a:xfrm>
            <a:off x="6351349" y="1919192"/>
            <a:ext cx="2697484" cy="4480562"/>
          </a:xfrm>
          <a:prstGeom prst="roundRect">
            <a:avLst>
              <a:gd name="adj" fmla="val 4068"/>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192" name="Shape 29"/>
          <p:cNvSpPr/>
          <p:nvPr/>
        </p:nvSpPr>
        <p:spPr>
          <a:xfrm>
            <a:off x="6351349" y="1919192"/>
            <a:ext cx="2697484" cy="1280164"/>
          </a:xfrm>
          <a:prstGeom prst="roundRect">
            <a:avLst>
              <a:gd name="adj" fmla="val 8571"/>
            </a:avLst>
          </a:prstGeom>
          <a:solidFill>
            <a:srgbClr val="3D2670"/>
          </a:solidFill>
          <a:ln w="12700">
            <a:miter lim="400000"/>
          </a:ln>
        </p:spPr>
        <p:txBody>
          <a:bodyPr lIns="45718" tIns="45718" rIns="45718" bIns="45718"/>
          <a:lstStyle/>
          <a:p>
            <a:pPr/>
          </a:p>
        </p:txBody>
      </p:sp>
      <p:sp>
        <p:nvSpPr>
          <p:cNvPr id="193" name="Shape 30"/>
          <p:cNvSpPr/>
          <p:nvPr/>
        </p:nvSpPr>
        <p:spPr>
          <a:xfrm>
            <a:off x="6351349" y="2650712"/>
            <a:ext cx="2697484" cy="548644"/>
          </a:xfrm>
          <a:prstGeom prst="rect">
            <a:avLst/>
          </a:prstGeom>
          <a:solidFill>
            <a:srgbClr val="3D2670"/>
          </a:solidFill>
          <a:ln w="12700">
            <a:miter lim="400000"/>
          </a:ln>
        </p:spPr>
        <p:txBody>
          <a:bodyPr lIns="45718" tIns="45718" rIns="45718" bIns="45718"/>
          <a:lstStyle/>
          <a:p>
            <a:pPr/>
          </a:p>
        </p:txBody>
      </p:sp>
      <p:pic>
        <p:nvPicPr>
          <p:cNvPr id="194" name="Image 4" descr="Image 4"/>
          <p:cNvPicPr>
            <a:picLocks noChangeAspect="1"/>
          </p:cNvPicPr>
          <p:nvPr/>
        </p:nvPicPr>
        <p:blipFill>
          <a:blip r:embed="rId5">
            <a:extLst/>
          </a:blip>
          <a:stretch>
            <a:fillRect/>
          </a:stretch>
        </p:blipFill>
        <p:spPr>
          <a:xfrm>
            <a:off x="7425769" y="2147792"/>
            <a:ext cx="548644" cy="548644"/>
          </a:xfrm>
          <a:prstGeom prst="rect">
            <a:avLst/>
          </a:prstGeom>
          <a:ln w="12700">
            <a:miter lim="400000"/>
          </a:ln>
        </p:spPr>
      </p:pic>
      <p:sp>
        <p:nvSpPr>
          <p:cNvPr id="195" name="Text 31"/>
          <p:cNvSpPr txBox="1"/>
          <p:nvPr/>
        </p:nvSpPr>
        <p:spPr>
          <a:xfrm>
            <a:off x="6442788" y="2838744"/>
            <a:ext cx="2514603"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FFFFF"/>
                </a:solidFill>
              </a:defRPr>
            </a:lvl1pPr>
          </a:lstStyle>
          <a:p>
            <a:pPr/>
            <a:r>
              <a:t>База даних</a:t>
            </a:r>
          </a:p>
        </p:txBody>
      </p:sp>
      <p:sp>
        <p:nvSpPr>
          <p:cNvPr id="196" name="Shape 32"/>
          <p:cNvSpPr/>
          <p:nvPr/>
        </p:nvSpPr>
        <p:spPr>
          <a:xfrm>
            <a:off x="6625669" y="3473674"/>
            <a:ext cx="2148844" cy="566930"/>
          </a:xfrm>
          <a:prstGeom prst="roundRect">
            <a:avLst>
              <a:gd name="adj" fmla="val 12903"/>
            </a:avLst>
          </a:prstGeom>
          <a:solidFill>
            <a:srgbClr val="F4EEFF"/>
          </a:solidFill>
          <a:ln w="12700">
            <a:miter lim="400000"/>
          </a:ln>
        </p:spPr>
        <p:txBody>
          <a:bodyPr lIns="45718" tIns="45718" rIns="45718" bIns="45718"/>
          <a:lstStyle/>
          <a:p>
            <a:pPr/>
          </a:p>
        </p:txBody>
      </p:sp>
      <p:sp>
        <p:nvSpPr>
          <p:cNvPr id="197" name="Text 33"/>
          <p:cNvSpPr txBox="1"/>
          <p:nvPr/>
        </p:nvSpPr>
        <p:spPr>
          <a:xfrm>
            <a:off x="6625669" y="3662456"/>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PostgreSQL</a:t>
            </a:r>
          </a:p>
        </p:txBody>
      </p:sp>
      <p:sp>
        <p:nvSpPr>
          <p:cNvPr id="198" name="Shape 34"/>
          <p:cNvSpPr/>
          <p:nvPr/>
        </p:nvSpPr>
        <p:spPr>
          <a:xfrm>
            <a:off x="6625669" y="4186904"/>
            <a:ext cx="2148844" cy="566932"/>
          </a:xfrm>
          <a:prstGeom prst="roundRect">
            <a:avLst>
              <a:gd name="adj" fmla="val 12903"/>
            </a:avLst>
          </a:prstGeom>
          <a:solidFill>
            <a:srgbClr val="F4EEFF"/>
          </a:solidFill>
          <a:ln w="12700">
            <a:miter lim="400000"/>
          </a:ln>
        </p:spPr>
        <p:txBody>
          <a:bodyPr lIns="45718" tIns="45718" rIns="45718" bIns="45718"/>
          <a:lstStyle/>
          <a:p>
            <a:pPr/>
          </a:p>
        </p:txBody>
      </p:sp>
      <p:sp>
        <p:nvSpPr>
          <p:cNvPr id="199" name="Text 35"/>
          <p:cNvSpPr txBox="1"/>
          <p:nvPr/>
        </p:nvSpPr>
        <p:spPr>
          <a:xfrm>
            <a:off x="6625669" y="4375688"/>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Prisma ORM</a:t>
            </a:r>
          </a:p>
        </p:txBody>
      </p:sp>
      <p:sp>
        <p:nvSpPr>
          <p:cNvPr id="200" name="Shape 36"/>
          <p:cNvSpPr/>
          <p:nvPr/>
        </p:nvSpPr>
        <p:spPr>
          <a:xfrm>
            <a:off x="9213421" y="1919192"/>
            <a:ext cx="2697484" cy="4480562"/>
          </a:xfrm>
          <a:prstGeom prst="roundRect">
            <a:avLst>
              <a:gd name="adj" fmla="val 4068"/>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201" name="Shape 37"/>
          <p:cNvSpPr/>
          <p:nvPr/>
        </p:nvSpPr>
        <p:spPr>
          <a:xfrm>
            <a:off x="9213421" y="1919192"/>
            <a:ext cx="2697484" cy="1280164"/>
          </a:xfrm>
          <a:prstGeom prst="roundRect">
            <a:avLst>
              <a:gd name="adj" fmla="val 8571"/>
            </a:avLst>
          </a:prstGeom>
          <a:solidFill>
            <a:srgbClr val="FF9D5C"/>
          </a:solidFill>
          <a:ln w="12700">
            <a:miter lim="400000"/>
          </a:ln>
        </p:spPr>
        <p:txBody>
          <a:bodyPr lIns="45718" tIns="45718" rIns="45718" bIns="45718"/>
          <a:lstStyle/>
          <a:p>
            <a:pPr/>
          </a:p>
        </p:txBody>
      </p:sp>
      <p:sp>
        <p:nvSpPr>
          <p:cNvPr id="202" name="Shape 38"/>
          <p:cNvSpPr/>
          <p:nvPr/>
        </p:nvSpPr>
        <p:spPr>
          <a:xfrm>
            <a:off x="9213421" y="2650712"/>
            <a:ext cx="2697484" cy="548644"/>
          </a:xfrm>
          <a:prstGeom prst="rect">
            <a:avLst/>
          </a:prstGeom>
          <a:solidFill>
            <a:srgbClr val="FF9D5C"/>
          </a:solidFill>
          <a:ln w="12700">
            <a:miter lim="400000"/>
          </a:ln>
        </p:spPr>
        <p:txBody>
          <a:bodyPr lIns="45718" tIns="45718" rIns="45718" bIns="45718"/>
          <a:lstStyle/>
          <a:p>
            <a:pPr/>
          </a:p>
        </p:txBody>
      </p:sp>
      <p:pic>
        <p:nvPicPr>
          <p:cNvPr id="203" name="Image 5" descr="Image 5"/>
          <p:cNvPicPr>
            <a:picLocks noChangeAspect="1"/>
          </p:cNvPicPr>
          <p:nvPr/>
        </p:nvPicPr>
        <p:blipFill>
          <a:blip r:embed="rId6">
            <a:extLst/>
          </a:blip>
          <a:stretch>
            <a:fillRect/>
          </a:stretch>
        </p:blipFill>
        <p:spPr>
          <a:xfrm>
            <a:off x="10287841" y="2147792"/>
            <a:ext cx="548644" cy="548644"/>
          </a:xfrm>
          <a:prstGeom prst="rect">
            <a:avLst/>
          </a:prstGeom>
          <a:ln w="12700">
            <a:miter lim="400000"/>
          </a:ln>
        </p:spPr>
      </p:pic>
      <p:sp>
        <p:nvSpPr>
          <p:cNvPr id="204" name="Text 39"/>
          <p:cNvSpPr txBox="1"/>
          <p:nvPr/>
        </p:nvSpPr>
        <p:spPr>
          <a:xfrm>
            <a:off x="9304859" y="2838744"/>
            <a:ext cx="2514605"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FFFFF"/>
                </a:solidFill>
              </a:defRPr>
            </a:lvl1pPr>
          </a:lstStyle>
          <a:p>
            <a:pPr/>
            <a:r>
              <a:t>Зовнішні сервіси</a:t>
            </a:r>
          </a:p>
        </p:txBody>
      </p:sp>
      <p:sp>
        <p:nvSpPr>
          <p:cNvPr id="205" name="Shape 40"/>
          <p:cNvSpPr/>
          <p:nvPr/>
        </p:nvSpPr>
        <p:spPr>
          <a:xfrm>
            <a:off x="9487741" y="3473674"/>
            <a:ext cx="2148841" cy="566930"/>
          </a:xfrm>
          <a:prstGeom prst="roundRect">
            <a:avLst>
              <a:gd name="adj" fmla="val 12903"/>
            </a:avLst>
          </a:prstGeom>
          <a:solidFill>
            <a:srgbClr val="F4EEFF"/>
          </a:solidFill>
          <a:ln w="12700">
            <a:miter lim="400000"/>
          </a:ln>
        </p:spPr>
        <p:txBody>
          <a:bodyPr lIns="45718" tIns="45718" rIns="45718" bIns="45718"/>
          <a:lstStyle/>
          <a:p>
            <a:pPr/>
          </a:p>
        </p:txBody>
      </p:sp>
      <p:sp>
        <p:nvSpPr>
          <p:cNvPr id="206" name="Text 41"/>
          <p:cNvSpPr txBox="1"/>
          <p:nvPr/>
        </p:nvSpPr>
        <p:spPr>
          <a:xfrm>
            <a:off x="9487741" y="3662456"/>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Cloudinary</a:t>
            </a:r>
          </a:p>
        </p:txBody>
      </p:sp>
      <p:sp>
        <p:nvSpPr>
          <p:cNvPr id="207" name="Shape 42"/>
          <p:cNvSpPr/>
          <p:nvPr/>
        </p:nvSpPr>
        <p:spPr>
          <a:xfrm>
            <a:off x="9487741" y="4186904"/>
            <a:ext cx="2148841" cy="566932"/>
          </a:xfrm>
          <a:prstGeom prst="roundRect">
            <a:avLst>
              <a:gd name="adj" fmla="val 12903"/>
            </a:avLst>
          </a:prstGeom>
          <a:solidFill>
            <a:srgbClr val="F4EEFF"/>
          </a:solidFill>
          <a:ln w="12700">
            <a:miter lim="400000"/>
          </a:ln>
        </p:spPr>
        <p:txBody>
          <a:bodyPr lIns="45718" tIns="45718" rIns="45718" bIns="45718"/>
          <a:lstStyle/>
          <a:p>
            <a:pPr/>
          </a:p>
        </p:txBody>
      </p:sp>
      <p:sp>
        <p:nvSpPr>
          <p:cNvPr id="208" name="Text 43"/>
          <p:cNvSpPr txBox="1"/>
          <p:nvPr/>
        </p:nvSpPr>
        <p:spPr>
          <a:xfrm>
            <a:off x="9487741" y="4375688"/>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Stripe</a:t>
            </a:r>
          </a:p>
        </p:txBody>
      </p:sp>
      <p:sp>
        <p:nvSpPr>
          <p:cNvPr id="209" name="Shape 44"/>
          <p:cNvSpPr/>
          <p:nvPr/>
        </p:nvSpPr>
        <p:spPr>
          <a:xfrm>
            <a:off x="9487741" y="4900136"/>
            <a:ext cx="2148841" cy="566932"/>
          </a:xfrm>
          <a:prstGeom prst="roundRect">
            <a:avLst>
              <a:gd name="adj" fmla="val 12903"/>
            </a:avLst>
          </a:prstGeom>
          <a:solidFill>
            <a:srgbClr val="F4EEFF"/>
          </a:solidFill>
          <a:ln w="12700">
            <a:miter lim="400000"/>
          </a:ln>
        </p:spPr>
        <p:txBody>
          <a:bodyPr lIns="45718" tIns="45718" rIns="45718" bIns="45718"/>
          <a:lstStyle/>
          <a:p>
            <a:pPr/>
          </a:p>
        </p:txBody>
      </p:sp>
      <p:sp>
        <p:nvSpPr>
          <p:cNvPr id="210" name="Text 45"/>
          <p:cNvSpPr txBox="1"/>
          <p:nvPr/>
        </p:nvSpPr>
        <p:spPr>
          <a:xfrm>
            <a:off x="9487741" y="5088921"/>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6B43C9"/>
                </a:solidFill>
              </a:defRPr>
            </a:lvl1pPr>
          </a:lstStyle>
          <a:p>
            <a:pPr/>
            <a:r>
              <a:t>Google OAuth</a:t>
            </a:r>
          </a:p>
        </p:txBody>
      </p:sp>
      <p:sp>
        <p:nvSpPr>
          <p:cNvPr id="211"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3" name="Image 0" descr="Image 0"/>
          <p:cNvPicPr>
            <a:picLocks noChangeAspect="1"/>
          </p:cNvPicPr>
          <p:nvPr/>
        </p:nvPicPr>
        <p:blipFill>
          <a:blip r:embed="rId2">
            <a:extLst/>
          </a:blip>
          <a:stretch>
            <a:fillRect/>
          </a:stretch>
        </p:blipFill>
        <p:spPr>
          <a:xfrm>
            <a:off x="777240" y="502919"/>
            <a:ext cx="329188" cy="329188"/>
          </a:xfrm>
          <a:prstGeom prst="rect">
            <a:avLst/>
          </a:prstGeom>
          <a:ln w="12700">
            <a:miter lim="400000"/>
          </a:ln>
        </p:spPr>
      </p:pic>
      <p:sp>
        <p:nvSpPr>
          <p:cNvPr id="214" name="Text 0"/>
          <p:cNvSpPr txBox="1"/>
          <p:nvPr/>
        </p:nvSpPr>
        <p:spPr>
          <a:xfrm>
            <a:off x="1252727" y="505697"/>
            <a:ext cx="1051560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1F1F"/>
                </a:solidFill>
              </a:defRPr>
            </a:lvl1pPr>
          </a:lstStyle>
          <a:p>
            <a:pPr/>
            <a:r>
              <a:t>Архітектура системи</a:t>
            </a:r>
          </a:p>
        </p:txBody>
      </p:sp>
      <p:sp>
        <p:nvSpPr>
          <p:cNvPr id="215" name="Shape 1"/>
          <p:cNvSpPr/>
          <p:nvPr/>
        </p:nvSpPr>
        <p:spPr>
          <a:xfrm>
            <a:off x="777240" y="1078991"/>
            <a:ext cx="10634472" cy="1"/>
          </a:xfrm>
          <a:prstGeom prst="line">
            <a:avLst/>
          </a:prstGeom>
          <a:ln w="12700">
            <a:solidFill>
              <a:srgbClr val="E6E0F5"/>
            </a:solidFill>
          </a:ln>
        </p:spPr>
        <p:txBody>
          <a:bodyPr lIns="45718" tIns="45718" rIns="45718" bIns="45718"/>
          <a:lstStyle/>
          <a:p>
            <a:pPr/>
          </a:p>
        </p:txBody>
      </p:sp>
      <p:sp>
        <p:nvSpPr>
          <p:cNvPr id="216" name="Text 3"/>
          <p:cNvSpPr txBox="1"/>
          <p:nvPr/>
        </p:nvSpPr>
        <p:spPr>
          <a:xfrm>
            <a:off x="838198" y="1224967"/>
            <a:ext cx="10515604" cy="871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15000"/>
              </a:lnSpc>
              <a:defRPr sz="1600">
                <a:solidFill>
                  <a:srgbClr val="1F1F1F"/>
                </a:solidFill>
              </a:defRPr>
            </a:lvl1pPr>
          </a:lstStyle>
          <a:p>
            <a:pPr/>
            <a:r>
              <a:t>Архітектуру побудовано за клієнт-серверним принципом із поділом на три логічні рівні. Взаємодія між клієнтом і сервером здійснюється через REST API з обміном даними у форматі JSON. Такий поділ забезпечує слабку зв'язаність складових: частини можуть розроблятися й розгортатися незалежно.</a:t>
            </a:r>
          </a:p>
        </p:txBody>
      </p:sp>
      <p:sp>
        <p:nvSpPr>
          <p:cNvPr id="217" name="Shape 5"/>
          <p:cNvSpPr/>
          <p:nvPr/>
        </p:nvSpPr>
        <p:spPr>
          <a:xfrm>
            <a:off x="852876" y="2411636"/>
            <a:ext cx="3008243" cy="2240285"/>
          </a:xfrm>
          <a:prstGeom prst="roundRect">
            <a:avLst>
              <a:gd name="adj" fmla="val 4898"/>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218" name="Shape 6"/>
          <p:cNvSpPr/>
          <p:nvPr/>
        </p:nvSpPr>
        <p:spPr>
          <a:xfrm>
            <a:off x="1945515" y="2685958"/>
            <a:ext cx="822967" cy="822967"/>
          </a:xfrm>
          <a:prstGeom prst="ellipse">
            <a:avLst/>
          </a:prstGeom>
          <a:solidFill>
            <a:srgbClr val="8456F0"/>
          </a:solidFill>
          <a:ln w="12700">
            <a:miter lim="400000"/>
          </a:ln>
        </p:spPr>
        <p:txBody>
          <a:bodyPr lIns="45718" tIns="45718" rIns="45718" bIns="45718"/>
          <a:lstStyle/>
          <a:p>
            <a:pPr/>
          </a:p>
        </p:txBody>
      </p:sp>
      <p:pic>
        <p:nvPicPr>
          <p:cNvPr id="219" name="Image 2" descr="Image 2"/>
          <p:cNvPicPr>
            <a:picLocks noChangeAspect="1"/>
          </p:cNvPicPr>
          <p:nvPr/>
        </p:nvPicPr>
        <p:blipFill>
          <a:blip r:embed="rId3">
            <a:extLst/>
          </a:blip>
          <a:stretch>
            <a:fillRect/>
          </a:stretch>
        </p:blipFill>
        <p:spPr>
          <a:xfrm>
            <a:off x="2128393" y="2868836"/>
            <a:ext cx="457205" cy="457205"/>
          </a:xfrm>
          <a:prstGeom prst="rect">
            <a:avLst/>
          </a:prstGeom>
          <a:ln w="12700">
            <a:miter lim="400000"/>
          </a:ln>
        </p:spPr>
      </p:pic>
      <p:sp>
        <p:nvSpPr>
          <p:cNvPr id="220" name="Text 7"/>
          <p:cNvSpPr txBox="1"/>
          <p:nvPr/>
        </p:nvSpPr>
        <p:spPr>
          <a:xfrm>
            <a:off x="916815" y="3649940"/>
            <a:ext cx="288036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20" sz="1200">
                <a:solidFill>
                  <a:srgbClr val="8456F0"/>
                </a:solidFill>
              </a:defRPr>
            </a:lvl1pPr>
          </a:lstStyle>
          <a:p>
            <a:pPr/>
            <a:r>
              <a:t>РІВЕНЬ ПОДАННЯ</a:t>
            </a:r>
          </a:p>
        </p:txBody>
      </p:sp>
      <p:sp>
        <p:nvSpPr>
          <p:cNvPr id="221" name="Text 8"/>
          <p:cNvSpPr txBox="1"/>
          <p:nvPr/>
        </p:nvSpPr>
        <p:spPr>
          <a:xfrm>
            <a:off x="916815" y="3901559"/>
            <a:ext cx="2880365" cy="2388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900">
                <a:solidFill>
                  <a:srgbClr val="262626"/>
                </a:solidFill>
              </a:defRPr>
            </a:lvl1pPr>
          </a:lstStyle>
          <a:p>
            <a:pPr/>
            <a:r>
              <a:t>Клієнт (Frontend)</a:t>
            </a:r>
          </a:p>
        </p:txBody>
      </p:sp>
      <p:sp>
        <p:nvSpPr>
          <p:cNvPr id="222" name="Text 9"/>
          <p:cNvSpPr txBox="1"/>
          <p:nvPr/>
        </p:nvSpPr>
        <p:spPr>
          <a:xfrm>
            <a:off x="962536" y="4326597"/>
            <a:ext cx="2788923"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5F5F5F"/>
                </a:solidFill>
              </a:defRPr>
            </a:lvl1pPr>
          </a:lstStyle>
          <a:p>
            <a:pPr/>
            <a:r>
              <a:t>Next.js · React · TypeScript · Tailwind CSS</a:t>
            </a:r>
          </a:p>
        </p:txBody>
      </p:sp>
      <p:sp>
        <p:nvSpPr>
          <p:cNvPr id="223" name="Shape 10"/>
          <p:cNvSpPr/>
          <p:nvPr/>
        </p:nvSpPr>
        <p:spPr>
          <a:xfrm>
            <a:off x="4104261" y="3326036"/>
            <a:ext cx="457205" cy="402340"/>
          </a:xfrm>
          <a:prstGeom prst="rightArrow">
            <a:avLst>
              <a:gd name="adj1" fmla="val 50000"/>
              <a:gd name="adj2" fmla="val 50000"/>
            </a:avLst>
          </a:prstGeom>
          <a:solidFill>
            <a:srgbClr val="DACAFF"/>
          </a:solidFill>
          <a:ln w="12700">
            <a:miter lim="400000"/>
          </a:ln>
        </p:spPr>
        <p:txBody>
          <a:bodyPr lIns="45718" tIns="45718" rIns="45718" bIns="45718"/>
          <a:lstStyle/>
          <a:p>
            <a:pPr/>
          </a:p>
        </p:txBody>
      </p:sp>
      <p:sp>
        <p:nvSpPr>
          <p:cNvPr id="224" name="Text 11"/>
          <p:cNvSpPr txBox="1"/>
          <p:nvPr/>
        </p:nvSpPr>
        <p:spPr>
          <a:xfrm>
            <a:off x="3897758" y="3038510"/>
            <a:ext cx="7315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6B43C9"/>
                </a:solidFill>
              </a:defRPr>
            </a:lvl1pPr>
          </a:lstStyle>
          <a:p>
            <a:pPr/>
            <a:r>
              <a:t>REST API</a:t>
            </a:r>
          </a:p>
        </p:txBody>
      </p:sp>
      <p:sp>
        <p:nvSpPr>
          <p:cNvPr id="225" name="Shape 12"/>
          <p:cNvSpPr/>
          <p:nvPr/>
        </p:nvSpPr>
        <p:spPr>
          <a:xfrm>
            <a:off x="4647567" y="2411636"/>
            <a:ext cx="3054099" cy="2240285"/>
          </a:xfrm>
          <a:prstGeom prst="roundRect">
            <a:avLst>
              <a:gd name="adj" fmla="val 4898"/>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226" name="Shape 13"/>
          <p:cNvSpPr/>
          <p:nvPr/>
        </p:nvSpPr>
        <p:spPr>
          <a:xfrm>
            <a:off x="5758564" y="2685958"/>
            <a:ext cx="822967" cy="822967"/>
          </a:xfrm>
          <a:prstGeom prst="ellipse">
            <a:avLst/>
          </a:prstGeom>
          <a:solidFill>
            <a:srgbClr val="6B43C9"/>
          </a:solidFill>
          <a:ln w="12700">
            <a:miter lim="400000"/>
          </a:ln>
        </p:spPr>
        <p:txBody>
          <a:bodyPr lIns="45718" tIns="45718" rIns="45718" bIns="45718"/>
          <a:lstStyle/>
          <a:p>
            <a:pPr/>
          </a:p>
        </p:txBody>
      </p:sp>
      <p:pic>
        <p:nvPicPr>
          <p:cNvPr id="227" name="Image 3" descr="Image 3"/>
          <p:cNvPicPr>
            <a:picLocks noChangeAspect="1"/>
          </p:cNvPicPr>
          <p:nvPr/>
        </p:nvPicPr>
        <p:blipFill>
          <a:blip r:embed="rId4">
            <a:extLst/>
          </a:blip>
          <a:stretch>
            <a:fillRect/>
          </a:stretch>
        </p:blipFill>
        <p:spPr>
          <a:xfrm>
            <a:off x="5941443" y="2868836"/>
            <a:ext cx="457204" cy="457205"/>
          </a:xfrm>
          <a:prstGeom prst="rect">
            <a:avLst/>
          </a:prstGeom>
          <a:ln w="12700">
            <a:miter lim="400000"/>
          </a:ln>
        </p:spPr>
      </p:pic>
      <p:sp>
        <p:nvSpPr>
          <p:cNvPr id="228" name="Text 14"/>
          <p:cNvSpPr txBox="1"/>
          <p:nvPr/>
        </p:nvSpPr>
        <p:spPr>
          <a:xfrm>
            <a:off x="4729864" y="3649940"/>
            <a:ext cx="288036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20" sz="1200">
                <a:solidFill>
                  <a:srgbClr val="6B43C9"/>
                </a:solidFill>
              </a:defRPr>
            </a:lvl1pPr>
          </a:lstStyle>
          <a:p>
            <a:pPr/>
            <a:r>
              <a:t>РІВЕНЬ БІЗНЕС-ЛОГІКИ</a:t>
            </a:r>
          </a:p>
        </p:txBody>
      </p:sp>
      <p:sp>
        <p:nvSpPr>
          <p:cNvPr id="229" name="Text 15"/>
          <p:cNvSpPr txBox="1"/>
          <p:nvPr/>
        </p:nvSpPr>
        <p:spPr>
          <a:xfrm>
            <a:off x="4729864" y="3901559"/>
            <a:ext cx="2880364" cy="2388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900">
                <a:solidFill>
                  <a:srgbClr val="262626"/>
                </a:solidFill>
              </a:defRPr>
            </a:lvl1pPr>
          </a:lstStyle>
          <a:p>
            <a:pPr/>
            <a:r>
              <a:t>Сервер (Backend)</a:t>
            </a:r>
          </a:p>
        </p:txBody>
      </p:sp>
      <p:sp>
        <p:nvSpPr>
          <p:cNvPr id="230" name="Text 16"/>
          <p:cNvSpPr txBox="1"/>
          <p:nvPr/>
        </p:nvSpPr>
        <p:spPr>
          <a:xfrm>
            <a:off x="4775584" y="4326597"/>
            <a:ext cx="278892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5F5F5F"/>
                </a:solidFill>
              </a:defRPr>
            </a:lvl1pPr>
          </a:lstStyle>
          <a:p>
            <a:pPr/>
            <a:r>
              <a:t>Node.js · Express · JWT · REST API</a:t>
            </a:r>
          </a:p>
        </p:txBody>
      </p:sp>
      <p:sp>
        <p:nvSpPr>
          <p:cNvPr id="231" name="Text 18"/>
          <p:cNvSpPr txBox="1"/>
          <p:nvPr/>
        </p:nvSpPr>
        <p:spPr>
          <a:xfrm>
            <a:off x="7710809" y="3038510"/>
            <a:ext cx="73152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6B43C9"/>
                </a:solidFill>
              </a:defRPr>
            </a:lvl1pPr>
          </a:lstStyle>
          <a:p>
            <a:pPr/>
            <a:r>
              <a:t>REST API</a:t>
            </a:r>
          </a:p>
        </p:txBody>
      </p:sp>
      <p:sp>
        <p:nvSpPr>
          <p:cNvPr id="232" name="Shape 19"/>
          <p:cNvSpPr/>
          <p:nvPr/>
        </p:nvSpPr>
        <p:spPr>
          <a:xfrm>
            <a:off x="8478972" y="2411636"/>
            <a:ext cx="3008247" cy="2240285"/>
          </a:xfrm>
          <a:prstGeom prst="roundRect">
            <a:avLst>
              <a:gd name="adj" fmla="val 4898"/>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233" name="Shape 20"/>
          <p:cNvSpPr/>
          <p:nvPr/>
        </p:nvSpPr>
        <p:spPr>
          <a:xfrm>
            <a:off x="9571612" y="2685958"/>
            <a:ext cx="822967" cy="822967"/>
          </a:xfrm>
          <a:prstGeom prst="ellipse">
            <a:avLst/>
          </a:prstGeom>
          <a:solidFill>
            <a:srgbClr val="3D2670"/>
          </a:solidFill>
          <a:ln w="12700">
            <a:miter lim="400000"/>
          </a:ln>
        </p:spPr>
        <p:txBody>
          <a:bodyPr lIns="45718" tIns="45718" rIns="45718" bIns="45718"/>
          <a:lstStyle/>
          <a:p>
            <a:pPr/>
          </a:p>
        </p:txBody>
      </p:sp>
      <p:pic>
        <p:nvPicPr>
          <p:cNvPr id="234" name="Image 4" descr="Image 4"/>
          <p:cNvPicPr>
            <a:picLocks noChangeAspect="1"/>
          </p:cNvPicPr>
          <p:nvPr/>
        </p:nvPicPr>
        <p:blipFill>
          <a:blip r:embed="rId5">
            <a:extLst/>
          </a:blip>
          <a:stretch>
            <a:fillRect/>
          </a:stretch>
        </p:blipFill>
        <p:spPr>
          <a:xfrm>
            <a:off x="9754492" y="2868836"/>
            <a:ext cx="457204" cy="457205"/>
          </a:xfrm>
          <a:prstGeom prst="rect">
            <a:avLst/>
          </a:prstGeom>
          <a:ln w="12700">
            <a:miter lim="400000"/>
          </a:ln>
        </p:spPr>
      </p:pic>
      <p:sp>
        <p:nvSpPr>
          <p:cNvPr id="235" name="Text 21"/>
          <p:cNvSpPr txBox="1"/>
          <p:nvPr/>
        </p:nvSpPr>
        <p:spPr>
          <a:xfrm>
            <a:off x="8542912" y="3649940"/>
            <a:ext cx="288036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20" sz="1200">
                <a:solidFill>
                  <a:srgbClr val="3D2670"/>
                </a:solidFill>
              </a:defRPr>
            </a:lvl1pPr>
          </a:lstStyle>
          <a:p>
            <a:pPr/>
            <a:r>
              <a:t>РІВЕНЬ ДАНИХ</a:t>
            </a:r>
          </a:p>
        </p:txBody>
      </p:sp>
      <p:sp>
        <p:nvSpPr>
          <p:cNvPr id="236" name="Text 22"/>
          <p:cNvSpPr txBox="1"/>
          <p:nvPr/>
        </p:nvSpPr>
        <p:spPr>
          <a:xfrm>
            <a:off x="8542912" y="3901559"/>
            <a:ext cx="2880364" cy="2388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900">
                <a:solidFill>
                  <a:srgbClr val="262626"/>
                </a:solidFill>
              </a:defRPr>
            </a:lvl1pPr>
          </a:lstStyle>
          <a:p>
            <a:pPr/>
            <a:r>
              <a:t>База даних</a:t>
            </a:r>
          </a:p>
        </p:txBody>
      </p:sp>
      <p:sp>
        <p:nvSpPr>
          <p:cNvPr id="237" name="Text 23"/>
          <p:cNvSpPr txBox="1"/>
          <p:nvPr/>
        </p:nvSpPr>
        <p:spPr>
          <a:xfrm>
            <a:off x="8588633" y="4326597"/>
            <a:ext cx="278892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5F5F5F"/>
                </a:solidFill>
              </a:defRPr>
            </a:lvl1pPr>
          </a:lstStyle>
          <a:p>
            <a:pPr/>
            <a:r>
              <a:t>PostgreSQL · Prisma ORM</a:t>
            </a:r>
          </a:p>
        </p:txBody>
      </p:sp>
      <p:sp>
        <p:nvSpPr>
          <p:cNvPr id="238" name="Shape 24"/>
          <p:cNvSpPr/>
          <p:nvPr/>
        </p:nvSpPr>
        <p:spPr>
          <a:xfrm>
            <a:off x="733936" y="4971958"/>
            <a:ext cx="10972803" cy="1325884"/>
          </a:xfrm>
          <a:prstGeom prst="roundRect">
            <a:avLst>
              <a:gd name="adj" fmla="val 6897"/>
            </a:avLst>
          </a:prstGeom>
          <a:solidFill>
            <a:srgbClr val="F4EEFF"/>
          </a:solidFill>
          <a:ln w="12700">
            <a:miter lim="400000"/>
          </a:ln>
        </p:spPr>
        <p:txBody>
          <a:bodyPr lIns="45718" tIns="45718" rIns="45718" bIns="45718"/>
          <a:lstStyle/>
          <a:p>
            <a:pPr/>
          </a:p>
        </p:txBody>
      </p:sp>
      <p:sp>
        <p:nvSpPr>
          <p:cNvPr id="239" name="Text 25"/>
          <p:cNvSpPr txBox="1"/>
          <p:nvPr/>
        </p:nvSpPr>
        <p:spPr>
          <a:xfrm>
            <a:off x="1099694" y="5179029"/>
            <a:ext cx="1005840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6B43C9"/>
                </a:solidFill>
              </a:defRPr>
            </a:lvl1pPr>
          </a:lstStyle>
          <a:p>
            <a:pPr/>
            <a:r>
              <a:t>Зовнішні хмарні сервіси</a:t>
            </a:r>
          </a:p>
        </p:txBody>
      </p:sp>
      <p:sp>
        <p:nvSpPr>
          <p:cNvPr id="240" name="Shape 26"/>
          <p:cNvSpPr/>
          <p:nvPr/>
        </p:nvSpPr>
        <p:spPr>
          <a:xfrm>
            <a:off x="1099694" y="5548031"/>
            <a:ext cx="548647" cy="548645"/>
          </a:xfrm>
          <a:prstGeom prst="ellipse">
            <a:avLst/>
          </a:prstGeom>
          <a:solidFill>
            <a:srgbClr val="FFFFFF"/>
          </a:solidFill>
          <a:ln w="12700">
            <a:miter lim="400000"/>
          </a:ln>
        </p:spPr>
        <p:txBody>
          <a:bodyPr lIns="45718" tIns="45718" rIns="45718" bIns="45718"/>
          <a:lstStyle/>
          <a:p>
            <a:pPr/>
          </a:p>
        </p:txBody>
      </p:sp>
      <p:pic>
        <p:nvPicPr>
          <p:cNvPr id="241" name="Image 5" descr="Image 5"/>
          <p:cNvPicPr>
            <a:picLocks noChangeAspect="1"/>
          </p:cNvPicPr>
          <p:nvPr/>
        </p:nvPicPr>
        <p:blipFill>
          <a:blip r:embed="rId6">
            <a:extLst/>
          </a:blip>
          <a:stretch>
            <a:fillRect/>
          </a:stretch>
        </p:blipFill>
        <p:spPr>
          <a:xfrm>
            <a:off x="1236855" y="5685190"/>
            <a:ext cx="274323" cy="274324"/>
          </a:xfrm>
          <a:prstGeom prst="rect">
            <a:avLst/>
          </a:prstGeom>
          <a:ln w="12700">
            <a:miter lim="400000"/>
          </a:ln>
        </p:spPr>
      </p:pic>
      <p:sp>
        <p:nvSpPr>
          <p:cNvPr id="242" name="Text 27"/>
          <p:cNvSpPr txBox="1"/>
          <p:nvPr/>
        </p:nvSpPr>
        <p:spPr>
          <a:xfrm>
            <a:off x="1758062" y="5738969"/>
            <a:ext cx="3017524"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262626"/>
                </a:solidFill>
              </a:defRPr>
            </a:pPr>
            <a:r>
              <a:t>Cloudinary  </a:t>
            </a:r>
            <a:r>
              <a:rPr b="0">
                <a:solidFill>
                  <a:srgbClr val="5F5F5F"/>
                </a:solidFill>
              </a:rPr>
              <a:t>— зберігання зображень</a:t>
            </a:r>
          </a:p>
        </p:txBody>
      </p:sp>
      <p:sp>
        <p:nvSpPr>
          <p:cNvPr id="243" name="Shape 28"/>
          <p:cNvSpPr/>
          <p:nvPr/>
        </p:nvSpPr>
        <p:spPr>
          <a:xfrm>
            <a:off x="4620135" y="5548031"/>
            <a:ext cx="548647" cy="548645"/>
          </a:xfrm>
          <a:prstGeom prst="ellipse">
            <a:avLst/>
          </a:prstGeom>
          <a:solidFill>
            <a:srgbClr val="FFFFFF"/>
          </a:solidFill>
          <a:ln w="12700">
            <a:miter lim="400000"/>
          </a:ln>
        </p:spPr>
        <p:txBody>
          <a:bodyPr lIns="45718" tIns="45718" rIns="45718" bIns="45718"/>
          <a:lstStyle/>
          <a:p>
            <a:pPr/>
          </a:p>
        </p:txBody>
      </p:sp>
      <p:pic>
        <p:nvPicPr>
          <p:cNvPr id="244" name="Image 6" descr="Image 6"/>
          <p:cNvPicPr>
            <a:picLocks noChangeAspect="1"/>
          </p:cNvPicPr>
          <p:nvPr/>
        </p:nvPicPr>
        <p:blipFill>
          <a:blip r:embed="rId7">
            <a:extLst/>
          </a:blip>
          <a:stretch>
            <a:fillRect/>
          </a:stretch>
        </p:blipFill>
        <p:spPr>
          <a:xfrm>
            <a:off x="4757296" y="5685190"/>
            <a:ext cx="274324" cy="274324"/>
          </a:xfrm>
          <a:prstGeom prst="rect">
            <a:avLst/>
          </a:prstGeom>
          <a:ln w="12700">
            <a:miter lim="400000"/>
          </a:ln>
        </p:spPr>
      </p:pic>
      <p:sp>
        <p:nvSpPr>
          <p:cNvPr id="245" name="Text 29"/>
          <p:cNvSpPr txBox="1"/>
          <p:nvPr/>
        </p:nvSpPr>
        <p:spPr>
          <a:xfrm>
            <a:off x="5278502" y="5743916"/>
            <a:ext cx="301752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262626"/>
                </a:solidFill>
              </a:defRPr>
            </a:pPr>
            <a:r>
              <a:t>Stripe  </a:t>
            </a:r>
            <a:r>
              <a:rPr b="0">
                <a:solidFill>
                  <a:srgbClr val="5F5F5F"/>
                </a:solidFill>
              </a:rPr>
              <a:t>— опрацювання пожертв</a:t>
            </a:r>
          </a:p>
        </p:txBody>
      </p:sp>
      <p:sp>
        <p:nvSpPr>
          <p:cNvPr id="246" name="Shape 30"/>
          <p:cNvSpPr/>
          <p:nvPr/>
        </p:nvSpPr>
        <p:spPr>
          <a:xfrm>
            <a:off x="7871590" y="5548031"/>
            <a:ext cx="548647" cy="548645"/>
          </a:xfrm>
          <a:prstGeom prst="ellipse">
            <a:avLst/>
          </a:prstGeom>
          <a:solidFill>
            <a:srgbClr val="FFFFFF"/>
          </a:solidFill>
          <a:ln w="12700">
            <a:miter lim="400000"/>
          </a:ln>
        </p:spPr>
        <p:txBody>
          <a:bodyPr lIns="45718" tIns="45718" rIns="45718" bIns="45718"/>
          <a:lstStyle/>
          <a:p>
            <a:pPr/>
          </a:p>
        </p:txBody>
      </p:sp>
      <p:pic>
        <p:nvPicPr>
          <p:cNvPr id="247" name="Image 7" descr="Image 7"/>
          <p:cNvPicPr>
            <a:picLocks noChangeAspect="1"/>
          </p:cNvPicPr>
          <p:nvPr/>
        </p:nvPicPr>
        <p:blipFill>
          <a:blip r:embed="rId8">
            <a:extLst/>
          </a:blip>
          <a:stretch>
            <a:fillRect/>
          </a:stretch>
        </p:blipFill>
        <p:spPr>
          <a:xfrm>
            <a:off x="8021703" y="5685190"/>
            <a:ext cx="274324" cy="274324"/>
          </a:xfrm>
          <a:prstGeom prst="rect">
            <a:avLst/>
          </a:prstGeom>
          <a:ln w="12700">
            <a:miter lim="400000"/>
          </a:ln>
        </p:spPr>
      </p:pic>
      <p:sp>
        <p:nvSpPr>
          <p:cNvPr id="248" name="Text 31"/>
          <p:cNvSpPr txBox="1"/>
          <p:nvPr/>
        </p:nvSpPr>
        <p:spPr>
          <a:xfrm>
            <a:off x="8542911" y="5743917"/>
            <a:ext cx="301752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262626"/>
                </a:solidFill>
              </a:defRPr>
            </a:pPr>
            <a:r>
              <a:t>Google OAuth  </a:t>
            </a:r>
            <a:r>
              <a:rPr b="0">
                <a:solidFill>
                  <a:srgbClr val="5F5F5F"/>
                </a:solidFill>
              </a:rPr>
              <a:t>— авторизація через Google</a:t>
            </a:r>
          </a:p>
        </p:txBody>
      </p:sp>
      <p:sp>
        <p:nvSpPr>
          <p:cNvPr id="249" name="Shape 10"/>
          <p:cNvSpPr/>
          <p:nvPr/>
        </p:nvSpPr>
        <p:spPr>
          <a:xfrm>
            <a:off x="3965576" y="3321332"/>
            <a:ext cx="471024" cy="4023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225" y="16200"/>
                </a:moveTo>
                <a:lnTo>
                  <a:pt x="9225" y="21600"/>
                </a:lnTo>
                <a:lnTo>
                  <a:pt x="0" y="10800"/>
                </a:lnTo>
                <a:lnTo>
                  <a:pt x="9225" y="0"/>
                </a:lnTo>
                <a:lnTo>
                  <a:pt x="9225" y="5400"/>
                </a:lnTo>
                <a:lnTo>
                  <a:pt x="21600" y="5400"/>
                </a:lnTo>
                <a:lnTo>
                  <a:pt x="21600" y="16200"/>
                </a:lnTo>
                <a:close/>
              </a:path>
            </a:pathLst>
          </a:custGeom>
          <a:solidFill>
            <a:srgbClr val="DACAFF"/>
          </a:solidFill>
          <a:ln w="12700">
            <a:miter lim="400000"/>
          </a:ln>
        </p:spPr>
        <p:txBody>
          <a:bodyPr lIns="45718" tIns="45718" rIns="45718" bIns="45718"/>
          <a:lstStyle/>
          <a:p>
            <a:pPr/>
          </a:p>
        </p:txBody>
      </p:sp>
      <p:sp>
        <p:nvSpPr>
          <p:cNvPr id="250" name="Shape 10"/>
          <p:cNvSpPr/>
          <p:nvPr/>
        </p:nvSpPr>
        <p:spPr>
          <a:xfrm>
            <a:off x="7917312" y="3332962"/>
            <a:ext cx="457204" cy="402340"/>
          </a:xfrm>
          <a:prstGeom prst="rightArrow">
            <a:avLst>
              <a:gd name="adj1" fmla="val 50000"/>
              <a:gd name="adj2" fmla="val 50000"/>
            </a:avLst>
          </a:prstGeom>
          <a:solidFill>
            <a:srgbClr val="DACAFF"/>
          </a:solidFill>
          <a:ln w="12700">
            <a:miter lim="400000"/>
          </a:ln>
        </p:spPr>
        <p:txBody>
          <a:bodyPr lIns="45718" tIns="45718" rIns="45718" bIns="45718"/>
          <a:lstStyle/>
          <a:p>
            <a:pPr/>
          </a:p>
        </p:txBody>
      </p:sp>
      <p:sp>
        <p:nvSpPr>
          <p:cNvPr id="251" name="Shape 10"/>
          <p:cNvSpPr/>
          <p:nvPr/>
        </p:nvSpPr>
        <p:spPr>
          <a:xfrm>
            <a:off x="7778625" y="3328256"/>
            <a:ext cx="471025" cy="4023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225" y="16200"/>
                </a:moveTo>
                <a:lnTo>
                  <a:pt x="9225" y="21600"/>
                </a:lnTo>
                <a:lnTo>
                  <a:pt x="0" y="10800"/>
                </a:lnTo>
                <a:lnTo>
                  <a:pt x="9225" y="0"/>
                </a:lnTo>
                <a:lnTo>
                  <a:pt x="9225" y="5400"/>
                </a:lnTo>
                <a:lnTo>
                  <a:pt x="21600" y="5400"/>
                </a:lnTo>
                <a:lnTo>
                  <a:pt x="21600" y="16200"/>
                </a:lnTo>
                <a:close/>
              </a:path>
            </a:pathLst>
          </a:custGeom>
          <a:solidFill>
            <a:srgbClr val="DACAFF"/>
          </a:solidFill>
          <a:ln w="12700">
            <a:miter lim="400000"/>
          </a:ln>
        </p:spPr>
        <p:txBody>
          <a:bodyPr lIns="45718" tIns="45718" rIns="45718" bIns="45718"/>
          <a:lstStyle/>
          <a:p>
            <a:pPr/>
          </a:p>
        </p:txBody>
      </p:sp>
      <p:sp>
        <p:nvSpPr>
          <p:cNvPr id="252"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4" name="Image 0" descr="Image 0"/>
          <p:cNvPicPr>
            <a:picLocks noChangeAspect="1"/>
          </p:cNvPicPr>
          <p:nvPr/>
        </p:nvPicPr>
        <p:blipFill>
          <a:blip r:embed="rId2">
            <a:extLst/>
          </a:blip>
          <a:stretch>
            <a:fillRect/>
          </a:stretch>
        </p:blipFill>
        <p:spPr>
          <a:xfrm>
            <a:off x="777240" y="502919"/>
            <a:ext cx="329188" cy="329188"/>
          </a:xfrm>
          <a:prstGeom prst="rect">
            <a:avLst/>
          </a:prstGeom>
          <a:ln w="12700">
            <a:miter lim="400000"/>
          </a:ln>
        </p:spPr>
      </p:pic>
      <p:sp>
        <p:nvSpPr>
          <p:cNvPr id="255" name="Text 0"/>
          <p:cNvSpPr txBox="1"/>
          <p:nvPr/>
        </p:nvSpPr>
        <p:spPr>
          <a:xfrm>
            <a:off x="1252727" y="505697"/>
            <a:ext cx="1051560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1F1F"/>
                </a:solidFill>
              </a:defRPr>
            </a:lvl1pPr>
          </a:lstStyle>
          <a:p>
            <a:pPr/>
            <a:r>
              <a:t>Структура зберігання даних</a:t>
            </a:r>
          </a:p>
        </p:txBody>
      </p:sp>
      <p:sp>
        <p:nvSpPr>
          <p:cNvPr id="256" name="Shape 1"/>
          <p:cNvSpPr/>
          <p:nvPr/>
        </p:nvSpPr>
        <p:spPr>
          <a:xfrm>
            <a:off x="777240" y="1078991"/>
            <a:ext cx="10634472" cy="1"/>
          </a:xfrm>
          <a:prstGeom prst="line">
            <a:avLst/>
          </a:prstGeom>
          <a:ln w="12700">
            <a:solidFill>
              <a:srgbClr val="E6E0F5"/>
            </a:solidFill>
          </a:ln>
        </p:spPr>
        <p:txBody>
          <a:bodyPr lIns="45718" tIns="45718" rIns="45718" bIns="45718"/>
          <a:lstStyle/>
          <a:p>
            <a:pPr/>
          </a:p>
        </p:txBody>
      </p:sp>
      <p:sp>
        <p:nvSpPr>
          <p:cNvPr id="257" name="Text 3"/>
          <p:cNvSpPr txBox="1"/>
          <p:nvPr/>
        </p:nvSpPr>
        <p:spPr>
          <a:xfrm>
            <a:off x="838198" y="1238882"/>
            <a:ext cx="10515604" cy="87133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15000"/>
              </a:lnSpc>
              <a:defRPr sz="1600">
                <a:solidFill>
                  <a:srgbClr val="1F1F1F"/>
                </a:solidFill>
              </a:defRPr>
            </a:lvl1pPr>
          </a:lstStyle>
          <a:p>
            <a:pPr/>
            <a:r>
              <a:t>Для зберігання даних обрано реляційну СКБД PostgreSQL, що вирізняється надійністю, підтримкою складних запитів і забезпеченням цілісності даних. Доступ реалізовано через ORM Prisma з декларативною схемою, типобезпекою запитів і автоматичними міграціями. Базу даних утворюють сім таблиць.</a:t>
            </a:r>
          </a:p>
        </p:txBody>
      </p:sp>
      <p:sp>
        <p:nvSpPr>
          <p:cNvPr id="258" name="Text 4"/>
          <p:cNvSpPr txBox="1"/>
          <p:nvPr/>
        </p:nvSpPr>
        <p:spPr>
          <a:xfrm>
            <a:off x="805397" y="2322859"/>
            <a:ext cx="2587757"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35" sz="1300">
                <a:solidFill>
                  <a:srgbClr val="5E5E5E"/>
                </a:solidFill>
              </a:defRPr>
            </a:lvl1pPr>
          </a:lstStyle>
          <a:p>
            <a:pPr/>
            <a:r>
              <a:t>ТАБЛИЦІ БАЗИ ДАНИХ</a:t>
            </a:r>
          </a:p>
        </p:txBody>
      </p:sp>
      <p:sp>
        <p:nvSpPr>
          <p:cNvPr id="259" name="Shape 12"/>
          <p:cNvSpPr/>
          <p:nvPr/>
        </p:nvSpPr>
        <p:spPr>
          <a:xfrm>
            <a:off x="766773" y="5246054"/>
            <a:ext cx="7212464" cy="960123"/>
          </a:xfrm>
          <a:prstGeom prst="roundRect">
            <a:avLst>
              <a:gd name="adj" fmla="val 6666"/>
            </a:avLst>
          </a:prstGeom>
          <a:solidFill>
            <a:srgbClr val="F4EEFF"/>
          </a:solidFill>
          <a:ln w="12700">
            <a:miter lim="400000"/>
          </a:ln>
        </p:spPr>
        <p:txBody>
          <a:bodyPr lIns="45718" tIns="45718" rIns="45718" bIns="45718"/>
          <a:lstStyle/>
          <a:p>
            <a:pPr/>
          </a:p>
        </p:txBody>
      </p:sp>
      <p:sp>
        <p:nvSpPr>
          <p:cNvPr id="260" name="Text 13"/>
          <p:cNvSpPr txBox="1"/>
          <p:nvPr/>
        </p:nvSpPr>
        <p:spPr>
          <a:xfrm>
            <a:off x="1132531" y="5383898"/>
            <a:ext cx="6480948" cy="68443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0000"/>
              </a:lnSpc>
              <a:defRPr b="1" sz="1400">
                <a:solidFill>
                  <a:srgbClr val="6B43C9"/>
                </a:solidFill>
              </a:defRPr>
            </a:pPr>
            <a:r>
              <a:t>Особливості схеми:  </a:t>
            </a:r>
            <a:r>
              <a:rPr b="0">
                <a:solidFill>
                  <a:srgbClr val="1F1F1F"/>
                </a:solidFill>
              </a:rPr>
              <a:t>первинні ключі типу uuid, унікальні обмеження (email, googleId), перелічувані типи (enum) для контролю значень, а також правила каскадного видалення (ON DELETE CASCADE / SET NULL) для підтримання цілісності даних.</a:t>
            </a:r>
          </a:p>
        </p:txBody>
      </p:sp>
      <p:sp>
        <p:nvSpPr>
          <p:cNvPr id="261" name="Shape 11"/>
          <p:cNvSpPr/>
          <p:nvPr/>
        </p:nvSpPr>
        <p:spPr>
          <a:xfrm>
            <a:off x="776477" y="2661754"/>
            <a:ext cx="3456436" cy="1078996"/>
          </a:xfrm>
          <a:prstGeom prst="roundRect">
            <a:avLst>
              <a:gd name="adj" fmla="val 6780"/>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262" name="Shape 12"/>
          <p:cNvSpPr/>
          <p:nvPr/>
        </p:nvSpPr>
        <p:spPr>
          <a:xfrm>
            <a:off x="977644" y="2844636"/>
            <a:ext cx="402343" cy="402343"/>
          </a:xfrm>
          <a:prstGeom prst="ellipse">
            <a:avLst/>
          </a:prstGeom>
          <a:solidFill>
            <a:srgbClr val="F4EEFF"/>
          </a:solidFill>
          <a:ln w="12700">
            <a:miter lim="400000"/>
          </a:ln>
        </p:spPr>
        <p:txBody>
          <a:bodyPr lIns="45718" tIns="45718" rIns="45718" bIns="45718"/>
          <a:lstStyle/>
          <a:p>
            <a:pPr/>
          </a:p>
        </p:txBody>
      </p:sp>
      <p:pic>
        <p:nvPicPr>
          <p:cNvPr id="263" name="Image 3" descr="Image 3"/>
          <p:cNvPicPr>
            <a:picLocks noChangeAspect="1"/>
          </p:cNvPicPr>
          <p:nvPr/>
        </p:nvPicPr>
        <p:blipFill>
          <a:blip r:embed="rId3">
            <a:extLst/>
          </a:blip>
          <a:stretch>
            <a:fillRect/>
          </a:stretch>
        </p:blipFill>
        <p:spPr>
          <a:xfrm>
            <a:off x="1059941" y="2926931"/>
            <a:ext cx="237748" cy="237748"/>
          </a:xfrm>
          <a:prstGeom prst="rect">
            <a:avLst/>
          </a:prstGeom>
          <a:ln w="12700">
            <a:miter lim="400000"/>
          </a:ln>
        </p:spPr>
      </p:pic>
      <p:sp>
        <p:nvSpPr>
          <p:cNvPr id="264" name="Text 13"/>
          <p:cNvSpPr txBox="1"/>
          <p:nvPr/>
        </p:nvSpPr>
        <p:spPr>
          <a:xfrm>
            <a:off x="1507997" y="2922939"/>
            <a:ext cx="2587757"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6B43C9"/>
                </a:solidFill>
              </a:defRPr>
            </a:lvl1pPr>
          </a:lstStyle>
          <a:p>
            <a:pPr/>
            <a:r>
              <a:t>User</a:t>
            </a:r>
          </a:p>
        </p:txBody>
      </p:sp>
      <p:sp>
        <p:nvSpPr>
          <p:cNvPr id="265" name="Text 14"/>
          <p:cNvSpPr txBox="1"/>
          <p:nvPr/>
        </p:nvSpPr>
        <p:spPr>
          <a:xfrm>
            <a:off x="1032510" y="3283548"/>
            <a:ext cx="2999235"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F5F5F"/>
                </a:solidFill>
              </a:defRPr>
            </a:lvl1pPr>
          </a:lstStyle>
          <a:p>
            <a:pPr/>
            <a:r>
              <a:t>Облікові записи, ролі, аватари</a:t>
            </a:r>
          </a:p>
        </p:txBody>
      </p:sp>
      <p:sp>
        <p:nvSpPr>
          <p:cNvPr id="266" name="Shape 19"/>
          <p:cNvSpPr/>
          <p:nvPr/>
        </p:nvSpPr>
        <p:spPr>
          <a:xfrm>
            <a:off x="776477" y="3932771"/>
            <a:ext cx="3456436" cy="1078996"/>
          </a:xfrm>
          <a:prstGeom prst="roundRect">
            <a:avLst>
              <a:gd name="adj" fmla="val 6780"/>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267" name="Shape 20"/>
          <p:cNvSpPr/>
          <p:nvPr/>
        </p:nvSpPr>
        <p:spPr>
          <a:xfrm>
            <a:off x="977644" y="4115651"/>
            <a:ext cx="402343" cy="402343"/>
          </a:xfrm>
          <a:prstGeom prst="ellipse">
            <a:avLst/>
          </a:prstGeom>
          <a:solidFill>
            <a:srgbClr val="F4EEFF"/>
          </a:solidFill>
          <a:ln w="12700">
            <a:miter lim="400000"/>
          </a:ln>
        </p:spPr>
        <p:txBody>
          <a:bodyPr lIns="45718" tIns="45718" rIns="45718" bIns="45718"/>
          <a:lstStyle/>
          <a:p>
            <a:pPr/>
          </a:p>
        </p:txBody>
      </p:sp>
      <p:pic>
        <p:nvPicPr>
          <p:cNvPr id="268" name="Image 5" descr="Image 5"/>
          <p:cNvPicPr>
            <a:picLocks noChangeAspect="1"/>
          </p:cNvPicPr>
          <p:nvPr/>
        </p:nvPicPr>
        <p:blipFill>
          <a:blip r:embed="rId3">
            <a:extLst/>
          </a:blip>
          <a:stretch>
            <a:fillRect/>
          </a:stretch>
        </p:blipFill>
        <p:spPr>
          <a:xfrm>
            <a:off x="1059941" y="4197946"/>
            <a:ext cx="237748" cy="237748"/>
          </a:xfrm>
          <a:prstGeom prst="rect">
            <a:avLst/>
          </a:prstGeom>
          <a:ln w="12700">
            <a:miter lim="400000"/>
          </a:ln>
        </p:spPr>
      </p:pic>
      <p:sp>
        <p:nvSpPr>
          <p:cNvPr id="269" name="Text 21"/>
          <p:cNvSpPr txBox="1"/>
          <p:nvPr/>
        </p:nvSpPr>
        <p:spPr>
          <a:xfrm>
            <a:off x="1507997" y="4193954"/>
            <a:ext cx="258775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6B43C9"/>
                </a:solidFill>
              </a:defRPr>
            </a:lvl1pPr>
          </a:lstStyle>
          <a:p>
            <a:pPr/>
            <a:r>
              <a:t>Animal</a:t>
            </a:r>
          </a:p>
        </p:txBody>
      </p:sp>
      <p:sp>
        <p:nvSpPr>
          <p:cNvPr id="270" name="Text 22"/>
          <p:cNvSpPr txBox="1"/>
          <p:nvPr/>
        </p:nvSpPr>
        <p:spPr>
          <a:xfrm>
            <a:off x="1032510" y="4554563"/>
            <a:ext cx="2999235"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F5F5F"/>
                </a:solidFill>
              </a:defRPr>
            </a:lvl1pPr>
          </a:lstStyle>
          <a:p>
            <a:pPr/>
            <a:r>
              <a:t>Тварини, доступні для адопції</a:t>
            </a:r>
          </a:p>
        </p:txBody>
      </p:sp>
      <p:sp>
        <p:nvSpPr>
          <p:cNvPr id="271" name="Shape 27"/>
          <p:cNvSpPr/>
          <p:nvPr/>
        </p:nvSpPr>
        <p:spPr>
          <a:xfrm>
            <a:off x="4517859" y="2673693"/>
            <a:ext cx="3456435" cy="1078995"/>
          </a:xfrm>
          <a:prstGeom prst="roundRect">
            <a:avLst>
              <a:gd name="adj" fmla="val 6780"/>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272" name="Shape 28"/>
          <p:cNvSpPr/>
          <p:nvPr/>
        </p:nvSpPr>
        <p:spPr>
          <a:xfrm>
            <a:off x="4719027" y="2856574"/>
            <a:ext cx="402343" cy="402343"/>
          </a:xfrm>
          <a:prstGeom prst="ellipse">
            <a:avLst/>
          </a:prstGeom>
          <a:solidFill>
            <a:srgbClr val="F4EEFF"/>
          </a:solidFill>
          <a:ln w="12700">
            <a:miter lim="400000"/>
          </a:ln>
        </p:spPr>
        <p:txBody>
          <a:bodyPr lIns="45718" tIns="45718" rIns="45718" bIns="45718"/>
          <a:lstStyle/>
          <a:p>
            <a:pPr/>
          </a:p>
        </p:txBody>
      </p:sp>
      <p:pic>
        <p:nvPicPr>
          <p:cNvPr id="273" name="Image 7" descr="Image 7"/>
          <p:cNvPicPr>
            <a:picLocks noChangeAspect="1"/>
          </p:cNvPicPr>
          <p:nvPr/>
        </p:nvPicPr>
        <p:blipFill>
          <a:blip r:embed="rId3">
            <a:extLst/>
          </a:blip>
          <a:stretch>
            <a:fillRect/>
          </a:stretch>
        </p:blipFill>
        <p:spPr>
          <a:xfrm>
            <a:off x="4801323" y="2938870"/>
            <a:ext cx="237748" cy="237748"/>
          </a:xfrm>
          <a:prstGeom prst="rect">
            <a:avLst/>
          </a:prstGeom>
          <a:ln w="12700">
            <a:miter lim="400000"/>
          </a:ln>
        </p:spPr>
      </p:pic>
      <p:sp>
        <p:nvSpPr>
          <p:cNvPr id="274" name="Text 29"/>
          <p:cNvSpPr txBox="1"/>
          <p:nvPr/>
        </p:nvSpPr>
        <p:spPr>
          <a:xfrm>
            <a:off x="5249379" y="2934876"/>
            <a:ext cx="258775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6B43C9"/>
                </a:solidFill>
              </a:defRPr>
            </a:lvl1pPr>
          </a:lstStyle>
          <a:p>
            <a:pPr/>
            <a:r>
              <a:t>Donation</a:t>
            </a:r>
          </a:p>
        </p:txBody>
      </p:sp>
      <p:sp>
        <p:nvSpPr>
          <p:cNvPr id="275" name="Text 30"/>
          <p:cNvSpPr txBox="1"/>
          <p:nvPr/>
        </p:nvSpPr>
        <p:spPr>
          <a:xfrm>
            <a:off x="4773891" y="3295486"/>
            <a:ext cx="2999236"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F5F5F"/>
                </a:solidFill>
              </a:defRPr>
            </a:lvl1pPr>
          </a:lstStyle>
          <a:p>
            <a:pPr/>
            <a:r>
              <a:t>Пожертви на користь притулків</a:t>
            </a:r>
          </a:p>
        </p:txBody>
      </p:sp>
      <p:sp>
        <p:nvSpPr>
          <p:cNvPr id="276" name="Shape 35"/>
          <p:cNvSpPr/>
          <p:nvPr/>
        </p:nvSpPr>
        <p:spPr>
          <a:xfrm>
            <a:off x="4517859" y="3944709"/>
            <a:ext cx="3456435" cy="1078996"/>
          </a:xfrm>
          <a:prstGeom prst="roundRect">
            <a:avLst>
              <a:gd name="adj" fmla="val 6780"/>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277" name="Shape 36"/>
          <p:cNvSpPr/>
          <p:nvPr/>
        </p:nvSpPr>
        <p:spPr>
          <a:xfrm>
            <a:off x="4719027" y="4127589"/>
            <a:ext cx="402343" cy="402343"/>
          </a:xfrm>
          <a:prstGeom prst="ellipse">
            <a:avLst/>
          </a:prstGeom>
          <a:solidFill>
            <a:srgbClr val="F4EEFF"/>
          </a:solidFill>
          <a:ln w="12700">
            <a:miter lim="400000"/>
          </a:ln>
        </p:spPr>
        <p:txBody>
          <a:bodyPr lIns="45718" tIns="45718" rIns="45718" bIns="45718"/>
          <a:lstStyle/>
          <a:p>
            <a:pPr/>
          </a:p>
        </p:txBody>
      </p:sp>
      <p:pic>
        <p:nvPicPr>
          <p:cNvPr id="278" name="Image 9" descr="Image 9"/>
          <p:cNvPicPr>
            <a:picLocks noChangeAspect="1"/>
          </p:cNvPicPr>
          <p:nvPr/>
        </p:nvPicPr>
        <p:blipFill>
          <a:blip r:embed="rId3">
            <a:extLst/>
          </a:blip>
          <a:stretch>
            <a:fillRect/>
          </a:stretch>
        </p:blipFill>
        <p:spPr>
          <a:xfrm>
            <a:off x="4801323" y="4209884"/>
            <a:ext cx="237748" cy="237748"/>
          </a:xfrm>
          <a:prstGeom prst="rect">
            <a:avLst/>
          </a:prstGeom>
          <a:ln w="12700">
            <a:miter lim="400000"/>
          </a:ln>
        </p:spPr>
      </p:pic>
      <p:sp>
        <p:nvSpPr>
          <p:cNvPr id="279" name="Text 37"/>
          <p:cNvSpPr txBox="1"/>
          <p:nvPr/>
        </p:nvSpPr>
        <p:spPr>
          <a:xfrm>
            <a:off x="5249379" y="4205894"/>
            <a:ext cx="258775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6B43C9"/>
                </a:solidFill>
              </a:defRPr>
            </a:lvl1pPr>
          </a:lstStyle>
          <a:p>
            <a:pPr/>
            <a:r>
              <a:t>Article</a:t>
            </a:r>
          </a:p>
        </p:txBody>
      </p:sp>
      <p:sp>
        <p:nvSpPr>
          <p:cNvPr id="280" name="Text 38"/>
          <p:cNvSpPr txBox="1"/>
          <p:nvPr/>
        </p:nvSpPr>
        <p:spPr>
          <a:xfrm>
            <a:off x="4773891" y="4566501"/>
            <a:ext cx="2999236"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F5F5F"/>
                </a:solidFill>
              </a:defRPr>
            </a:lvl1pPr>
          </a:lstStyle>
          <a:p>
            <a:pPr/>
            <a:r>
              <a:t>Статті та поради щодо адопції</a:t>
            </a:r>
          </a:p>
        </p:txBody>
      </p:sp>
      <p:sp>
        <p:nvSpPr>
          <p:cNvPr id="281" name="Shape 15"/>
          <p:cNvSpPr/>
          <p:nvPr/>
        </p:nvSpPr>
        <p:spPr>
          <a:xfrm>
            <a:off x="8259242" y="2649309"/>
            <a:ext cx="3456436" cy="1078996"/>
          </a:xfrm>
          <a:prstGeom prst="roundRect">
            <a:avLst>
              <a:gd name="adj" fmla="val 6780"/>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282" name="Shape 16"/>
          <p:cNvSpPr/>
          <p:nvPr/>
        </p:nvSpPr>
        <p:spPr>
          <a:xfrm>
            <a:off x="8460412" y="2832189"/>
            <a:ext cx="402343" cy="402343"/>
          </a:xfrm>
          <a:prstGeom prst="ellipse">
            <a:avLst/>
          </a:prstGeom>
          <a:solidFill>
            <a:srgbClr val="F4EEFF"/>
          </a:solidFill>
          <a:ln w="12700">
            <a:miter lim="400000"/>
          </a:ln>
        </p:spPr>
        <p:txBody>
          <a:bodyPr lIns="45718" tIns="45718" rIns="45718" bIns="45718"/>
          <a:lstStyle/>
          <a:p>
            <a:pPr/>
          </a:p>
        </p:txBody>
      </p:sp>
      <p:pic>
        <p:nvPicPr>
          <p:cNvPr id="283" name="Image 4" descr="Image 4"/>
          <p:cNvPicPr>
            <a:picLocks noChangeAspect="1"/>
          </p:cNvPicPr>
          <p:nvPr/>
        </p:nvPicPr>
        <p:blipFill>
          <a:blip r:embed="rId3">
            <a:extLst/>
          </a:blip>
          <a:stretch>
            <a:fillRect/>
          </a:stretch>
        </p:blipFill>
        <p:spPr>
          <a:xfrm>
            <a:off x="8542707" y="2914486"/>
            <a:ext cx="237748" cy="237748"/>
          </a:xfrm>
          <a:prstGeom prst="rect">
            <a:avLst/>
          </a:prstGeom>
          <a:ln w="12700">
            <a:miter lim="400000"/>
          </a:ln>
        </p:spPr>
      </p:pic>
      <p:sp>
        <p:nvSpPr>
          <p:cNvPr id="284" name="Text 17"/>
          <p:cNvSpPr txBox="1"/>
          <p:nvPr/>
        </p:nvSpPr>
        <p:spPr>
          <a:xfrm>
            <a:off x="8990763" y="2910493"/>
            <a:ext cx="2587756"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6B43C9"/>
                </a:solidFill>
              </a:defRPr>
            </a:lvl1pPr>
          </a:lstStyle>
          <a:p>
            <a:pPr/>
            <a:r>
              <a:t>Shelter</a:t>
            </a:r>
          </a:p>
        </p:txBody>
      </p:sp>
      <p:sp>
        <p:nvSpPr>
          <p:cNvPr id="285" name="Text 18"/>
          <p:cNvSpPr txBox="1"/>
          <p:nvPr/>
        </p:nvSpPr>
        <p:spPr>
          <a:xfrm>
            <a:off x="8515276" y="3271101"/>
            <a:ext cx="2999236"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F5F5F"/>
                </a:solidFill>
              </a:defRPr>
            </a:lvl1pPr>
          </a:lstStyle>
          <a:p>
            <a:pPr/>
            <a:r>
              <a:t>Інформація про притулки</a:t>
            </a:r>
          </a:p>
        </p:txBody>
      </p:sp>
      <p:sp>
        <p:nvSpPr>
          <p:cNvPr id="286" name="Shape 23"/>
          <p:cNvSpPr/>
          <p:nvPr/>
        </p:nvSpPr>
        <p:spPr>
          <a:xfrm>
            <a:off x="8259242" y="3920325"/>
            <a:ext cx="3456436" cy="1078995"/>
          </a:xfrm>
          <a:prstGeom prst="roundRect">
            <a:avLst>
              <a:gd name="adj" fmla="val 6780"/>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287" name="Shape 24"/>
          <p:cNvSpPr/>
          <p:nvPr/>
        </p:nvSpPr>
        <p:spPr>
          <a:xfrm>
            <a:off x="8460412" y="4103204"/>
            <a:ext cx="402343" cy="402343"/>
          </a:xfrm>
          <a:prstGeom prst="ellipse">
            <a:avLst/>
          </a:prstGeom>
          <a:solidFill>
            <a:srgbClr val="F4EEFF"/>
          </a:solidFill>
          <a:ln w="12700">
            <a:miter lim="400000"/>
          </a:ln>
        </p:spPr>
        <p:txBody>
          <a:bodyPr lIns="45718" tIns="45718" rIns="45718" bIns="45718"/>
          <a:lstStyle/>
          <a:p>
            <a:pPr/>
          </a:p>
        </p:txBody>
      </p:sp>
      <p:pic>
        <p:nvPicPr>
          <p:cNvPr id="288" name="Image 6" descr="Image 6"/>
          <p:cNvPicPr>
            <a:picLocks noChangeAspect="1"/>
          </p:cNvPicPr>
          <p:nvPr/>
        </p:nvPicPr>
        <p:blipFill>
          <a:blip r:embed="rId3">
            <a:extLst/>
          </a:blip>
          <a:stretch>
            <a:fillRect/>
          </a:stretch>
        </p:blipFill>
        <p:spPr>
          <a:xfrm>
            <a:off x="8542707" y="4185501"/>
            <a:ext cx="237748" cy="237748"/>
          </a:xfrm>
          <a:prstGeom prst="rect">
            <a:avLst/>
          </a:prstGeom>
          <a:ln w="12700">
            <a:miter lim="400000"/>
          </a:ln>
        </p:spPr>
      </p:pic>
      <p:sp>
        <p:nvSpPr>
          <p:cNvPr id="289" name="Text 25"/>
          <p:cNvSpPr txBox="1"/>
          <p:nvPr/>
        </p:nvSpPr>
        <p:spPr>
          <a:xfrm>
            <a:off x="8990763" y="4181509"/>
            <a:ext cx="2587756"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6B43C9"/>
                </a:solidFill>
              </a:defRPr>
            </a:lvl1pPr>
          </a:lstStyle>
          <a:p>
            <a:pPr/>
            <a:r>
              <a:t>AdoptionApplication</a:t>
            </a:r>
          </a:p>
        </p:txBody>
      </p:sp>
      <p:sp>
        <p:nvSpPr>
          <p:cNvPr id="290" name="Text 26"/>
          <p:cNvSpPr txBox="1"/>
          <p:nvPr/>
        </p:nvSpPr>
        <p:spPr>
          <a:xfrm>
            <a:off x="8515276" y="4542116"/>
            <a:ext cx="2999236"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F5F5F"/>
                </a:solidFill>
              </a:defRPr>
            </a:lvl1pPr>
          </a:lstStyle>
          <a:p>
            <a:pPr/>
            <a:r>
              <a:t>Заявки на адопцію</a:t>
            </a:r>
          </a:p>
        </p:txBody>
      </p:sp>
      <p:sp>
        <p:nvSpPr>
          <p:cNvPr id="291" name="Shape 31"/>
          <p:cNvSpPr/>
          <p:nvPr/>
        </p:nvSpPr>
        <p:spPr>
          <a:xfrm>
            <a:off x="8259242" y="5186617"/>
            <a:ext cx="3456436" cy="1078996"/>
          </a:xfrm>
          <a:prstGeom prst="roundRect">
            <a:avLst>
              <a:gd name="adj" fmla="val 6780"/>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292" name="Shape 32"/>
          <p:cNvSpPr/>
          <p:nvPr/>
        </p:nvSpPr>
        <p:spPr>
          <a:xfrm>
            <a:off x="8460412" y="5369498"/>
            <a:ext cx="402343" cy="402344"/>
          </a:xfrm>
          <a:prstGeom prst="ellipse">
            <a:avLst/>
          </a:prstGeom>
          <a:solidFill>
            <a:srgbClr val="F4EEFF"/>
          </a:solidFill>
          <a:ln w="12700">
            <a:miter lim="400000"/>
          </a:ln>
        </p:spPr>
        <p:txBody>
          <a:bodyPr lIns="45718" tIns="45718" rIns="45718" bIns="45718"/>
          <a:lstStyle/>
          <a:p>
            <a:pPr/>
          </a:p>
        </p:txBody>
      </p:sp>
      <p:pic>
        <p:nvPicPr>
          <p:cNvPr id="293" name="Image 8" descr="Image 8"/>
          <p:cNvPicPr>
            <a:picLocks noChangeAspect="1"/>
          </p:cNvPicPr>
          <p:nvPr/>
        </p:nvPicPr>
        <p:blipFill>
          <a:blip r:embed="rId3">
            <a:extLst/>
          </a:blip>
          <a:stretch>
            <a:fillRect/>
          </a:stretch>
        </p:blipFill>
        <p:spPr>
          <a:xfrm>
            <a:off x="8542707" y="5451793"/>
            <a:ext cx="237748" cy="237748"/>
          </a:xfrm>
          <a:prstGeom prst="rect">
            <a:avLst/>
          </a:prstGeom>
          <a:ln w="12700">
            <a:miter lim="400000"/>
          </a:ln>
        </p:spPr>
      </p:pic>
      <p:sp>
        <p:nvSpPr>
          <p:cNvPr id="294" name="Text 33"/>
          <p:cNvSpPr txBox="1"/>
          <p:nvPr/>
        </p:nvSpPr>
        <p:spPr>
          <a:xfrm>
            <a:off x="8990763" y="5457697"/>
            <a:ext cx="2587756"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6B43C9"/>
                </a:solidFill>
              </a:defRPr>
            </a:lvl1pPr>
          </a:lstStyle>
          <a:p>
            <a:pPr/>
            <a:r>
              <a:t>UserLikedAnimal</a:t>
            </a:r>
          </a:p>
        </p:txBody>
      </p:sp>
      <p:sp>
        <p:nvSpPr>
          <p:cNvPr id="295" name="Text 34"/>
          <p:cNvSpPr txBox="1"/>
          <p:nvPr/>
        </p:nvSpPr>
        <p:spPr>
          <a:xfrm>
            <a:off x="8515276" y="5808410"/>
            <a:ext cx="2999236"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F5F5F"/>
                </a:solidFill>
              </a:defRPr>
            </a:lvl1pPr>
          </a:lstStyle>
          <a:p>
            <a:pPr/>
            <a:r>
              <a:t>Зв'язок «обране» (M:N)</a:t>
            </a:r>
          </a:p>
        </p:txBody>
      </p:sp>
      <p:sp>
        <p:nvSpPr>
          <p:cNvPr id="296"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9</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98" name="Image 0" descr="Image 0"/>
          <p:cNvPicPr>
            <a:picLocks noChangeAspect="1"/>
          </p:cNvPicPr>
          <p:nvPr/>
        </p:nvPicPr>
        <p:blipFill>
          <a:blip r:embed="rId2">
            <a:extLst/>
          </a:blip>
          <a:stretch>
            <a:fillRect/>
          </a:stretch>
        </p:blipFill>
        <p:spPr>
          <a:xfrm>
            <a:off x="777240" y="502919"/>
            <a:ext cx="329188" cy="329188"/>
          </a:xfrm>
          <a:prstGeom prst="rect">
            <a:avLst/>
          </a:prstGeom>
          <a:ln w="12700">
            <a:miter lim="400000"/>
          </a:ln>
        </p:spPr>
      </p:pic>
      <p:sp>
        <p:nvSpPr>
          <p:cNvPr id="299" name="Text 0"/>
          <p:cNvSpPr txBox="1"/>
          <p:nvPr/>
        </p:nvSpPr>
        <p:spPr>
          <a:xfrm>
            <a:off x="1252727" y="505697"/>
            <a:ext cx="1051560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1F1F"/>
                </a:solidFill>
              </a:defRPr>
            </a:lvl1pPr>
          </a:lstStyle>
          <a:p>
            <a:pPr/>
            <a:r>
              <a:t>Безпека та ключові алгоритми</a:t>
            </a:r>
          </a:p>
        </p:txBody>
      </p:sp>
      <p:sp>
        <p:nvSpPr>
          <p:cNvPr id="300" name="Shape 1"/>
          <p:cNvSpPr/>
          <p:nvPr/>
        </p:nvSpPr>
        <p:spPr>
          <a:xfrm>
            <a:off x="777240" y="1078991"/>
            <a:ext cx="10634472" cy="1"/>
          </a:xfrm>
          <a:prstGeom prst="line">
            <a:avLst/>
          </a:prstGeom>
          <a:ln w="12700">
            <a:solidFill>
              <a:srgbClr val="E6E0F5"/>
            </a:solidFill>
          </a:ln>
        </p:spPr>
        <p:txBody>
          <a:bodyPr lIns="45718" tIns="45718" rIns="45718" bIns="45718"/>
          <a:lstStyle/>
          <a:p>
            <a:pPr/>
          </a:p>
        </p:txBody>
      </p:sp>
      <p:sp>
        <p:nvSpPr>
          <p:cNvPr id="301" name="Text 3"/>
          <p:cNvSpPr txBox="1"/>
          <p:nvPr/>
        </p:nvSpPr>
        <p:spPr>
          <a:xfrm>
            <a:off x="822959" y="1142625"/>
            <a:ext cx="10515601" cy="5859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15000"/>
              </a:lnSpc>
              <a:defRPr sz="1600">
                <a:solidFill>
                  <a:srgbClr val="1F1F1F"/>
                </a:solidFill>
              </a:defRPr>
            </a:lvl1pPr>
          </a:lstStyle>
          <a:p>
            <a:pPr/>
            <a:r>
              <a:t>Під час реалізації застосовано низку алгоритмів і методів, що становлять основу бізнес-логіки та безпеки системи й гарантують захист даних користувачів.</a:t>
            </a:r>
          </a:p>
        </p:txBody>
      </p:sp>
      <p:sp>
        <p:nvSpPr>
          <p:cNvPr id="302" name="Shape 4"/>
          <p:cNvSpPr/>
          <p:nvPr/>
        </p:nvSpPr>
        <p:spPr>
          <a:xfrm>
            <a:off x="730200" y="2039108"/>
            <a:ext cx="5349241" cy="1298452"/>
          </a:xfrm>
          <a:prstGeom prst="roundRect">
            <a:avLst>
              <a:gd name="adj" fmla="val 7042"/>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03" name="Shape 5"/>
          <p:cNvSpPr/>
          <p:nvPr/>
        </p:nvSpPr>
        <p:spPr>
          <a:xfrm>
            <a:off x="986230" y="2450587"/>
            <a:ext cx="512071" cy="512071"/>
          </a:xfrm>
          <a:prstGeom prst="ellipse">
            <a:avLst/>
          </a:prstGeom>
          <a:solidFill>
            <a:srgbClr val="8456F0"/>
          </a:solidFill>
          <a:ln w="12700">
            <a:miter lim="400000"/>
          </a:ln>
        </p:spPr>
        <p:txBody>
          <a:bodyPr lIns="45718" tIns="45718" rIns="45718" bIns="45718"/>
          <a:lstStyle/>
          <a:p>
            <a:pPr/>
          </a:p>
        </p:txBody>
      </p:sp>
      <p:pic>
        <p:nvPicPr>
          <p:cNvPr id="304" name="Image 2" descr="Image 2"/>
          <p:cNvPicPr>
            <a:picLocks noChangeAspect="1"/>
          </p:cNvPicPr>
          <p:nvPr/>
        </p:nvPicPr>
        <p:blipFill>
          <a:blip r:embed="rId3">
            <a:extLst/>
          </a:blip>
          <a:stretch>
            <a:fillRect/>
          </a:stretch>
        </p:blipFill>
        <p:spPr>
          <a:xfrm>
            <a:off x="1105102" y="2569459"/>
            <a:ext cx="274324" cy="274324"/>
          </a:xfrm>
          <a:prstGeom prst="rect">
            <a:avLst/>
          </a:prstGeom>
          <a:ln w="12700">
            <a:miter lim="400000"/>
          </a:ln>
        </p:spPr>
      </p:pic>
      <p:sp>
        <p:nvSpPr>
          <p:cNvPr id="305" name="Text 6"/>
          <p:cNvSpPr txBox="1"/>
          <p:nvPr/>
        </p:nvSpPr>
        <p:spPr>
          <a:xfrm>
            <a:off x="1690319" y="2318579"/>
            <a:ext cx="4206245"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62626"/>
                </a:solidFill>
              </a:defRPr>
            </a:lvl1pPr>
          </a:lstStyle>
          <a:p>
            <a:pPr/>
            <a:r>
              <a:t>JWT-аутентифікація</a:t>
            </a:r>
          </a:p>
        </p:txBody>
      </p:sp>
      <p:sp>
        <p:nvSpPr>
          <p:cNvPr id="306" name="Text 7"/>
          <p:cNvSpPr txBox="1"/>
          <p:nvPr/>
        </p:nvSpPr>
        <p:spPr>
          <a:xfrm>
            <a:off x="1690319" y="2712361"/>
            <a:ext cx="4206245" cy="427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F5F5F"/>
                </a:solidFill>
              </a:defRPr>
            </a:lvl1pPr>
          </a:lstStyle>
          <a:p>
            <a:pPr/>
            <a:r>
              <a:t>Підписані токени з ідентифікатором, поштою та роллю користувача</a:t>
            </a:r>
          </a:p>
        </p:txBody>
      </p:sp>
      <p:sp>
        <p:nvSpPr>
          <p:cNvPr id="307" name="Shape 8"/>
          <p:cNvSpPr/>
          <p:nvPr/>
        </p:nvSpPr>
        <p:spPr>
          <a:xfrm>
            <a:off x="6353759" y="2039108"/>
            <a:ext cx="5349243" cy="1298452"/>
          </a:xfrm>
          <a:prstGeom prst="roundRect">
            <a:avLst>
              <a:gd name="adj" fmla="val 7042"/>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08" name="Shape 9"/>
          <p:cNvSpPr/>
          <p:nvPr/>
        </p:nvSpPr>
        <p:spPr>
          <a:xfrm>
            <a:off x="6609791" y="2450587"/>
            <a:ext cx="512071" cy="512071"/>
          </a:xfrm>
          <a:prstGeom prst="ellipse">
            <a:avLst/>
          </a:prstGeom>
          <a:solidFill>
            <a:srgbClr val="8456F0"/>
          </a:solidFill>
          <a:ln w="12700">
            <a:miter lim="400000"/>
          </a:ln>
        </p:spPr>
        <p:txBody>
          <a:bodyPr lIns="45718" tIns="45718" rIns="45718" bIns="45718"/>
          <a:lstStyle/>
          <a:p>
            <a:pPr/>
          </a:p>
        </p:txBody>
      </p:sp>
      <p:pic>
        <p:nvPicPr>
          <p:cNvPr id="309" name="Image 3" descr="Image 3"/>
          <p:cNvPicPr>
            <a:picLocks noChangeAspect="1"/>
          </p:cNvPicPr>
          <p:nvPr/>
        </p:nvPicPr>
        <p:blipFill>
          <a:blip r:embed="rId4">
            <a:extLst/>
          </a:blip>
          <a:stretch>
            <a:fillRect/>
          </a:stretch>
        </p:blipFill>
        <p:spPr>
          <a:xfrm>
            <a:off x="6728662" y="2569459"/>
            <a:ext cx="274324" cy="274324"/>
          </a:xfrm>
          <a:prstGeom prst="rect">
            <a:avLst/>
          </a:prstGeom>
          <a:ln w="12700">
            <a:miter lim="400000"/>
          </a:ln>
        </p:spPr>
      </p:pic>
      <p:sp>
        <p:nvSpPr>
          <p:cNvPr id="310" name="Text 10"/>
          <p:cNvSpPr txBox="1"/>
          <p:nvPr/>
        </p:nvSpPr>
        <p:spPr>
          <a:xfrm>
            <a:off x="7313879" y="2318579"/>
            <a:ext cx="4206245"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62626"/>
                </a:solidFill>
              </a:defRPr>
            </a:lvl1pPr>
          </a:lstStyle>
          <a:p>
            <a:pPr/>
            <a:r>
              <a:t>Розмежування ролей</a:t>
            </a:r>
          </a:p>
        </p:txBody>
      </p:sp>
      <p:sp>
        <p:nvSpPr>
          <p:cNvPr id="311" name="Text 11"/>
          <p:cNvSpPr txBox="1"/>
          <p:nvPr/>
        </p:nvSpPr>
        <p:spPr>
          <a:xfrm>
            <a:off x="7313879" y="2712362"/>
            <a:ext cx="4206245" cy="427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F5F5F"/>
                </a:solidFill>
              </a:defRPr>
            </a:lvl1pPr>
          </a:lstStyle>
          <a:p>
            <a:pPr/>
            <a:r>
              <a:t>Middleware authMiddleware + allowRoles для захисту маршрутів</a:t>
            </a:r>
          </a:p>
        </p:txBody>
      </p:sp>
      <p:sp>
        <p:nvSpPr>
          <p:cNvPr id="312" name="Shape 12"/>
          <p:cNvSpPr/>
          <p:nvPr/>
        </p:nvSpPr>
        <p:spPr>
          <a:xfrm>
            <a:off x="730200" y="3538723"/>
            <a:ext cx="5349241" cy="1298452"/>
          </a:xfrm>
          <a:prstGeom prst="roundRect">
            <a:avLst>
              <a:gd name="adj" fmla="val 7042"/>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13" name="Shape 13"/>
          <p:cNvSpPr/>
          <p:nvPr/>
        </p:nvSpPr>
        <p:spPr>
          <a:xfrm>
            <a:off x="986230" y="3950205"/>
            <a:ext cx="512071" cy="512071"/>
          </a:xfrm>
          <a:prstGeom prst="ellipse">
            <a:avLst/>
          </a:prstGeom>
          <a:solidFill>
            <a:srgbClr val="8456F0"/>
          </a:solidFill>
          <a:ln w="12700">
            <a:miter lim="400000"/>
          </a:ln>
        </p:spPr>
        <p:txBody>
          <a:bodyPr lIns="45718" tIns="45718" rIns="45718" bIns="45718"/>
          <a:lstStyle/>
          <a:p>
            <a:pPr/>
          </a:p>
        </p:txBody>
      </p:sp>
      <p:pic>
        <p:nvPicPr>
          <p:cNvPr id="314" name="Image 4" descr="Image 4"/>
          <p:cNvPicPr>
            <a:picLocks noChangeAspect="1"/>
          </p:cNvPicPr>
          <p:nvPr/>
        </p:nvPicPr>
        <p:blipFill>
          <a:blip r:embed="rId5">
            <a:extLst/>
          </a:blip>
          <a:stretch>
            <a:fillRect/>
          </a:stretch>
        </p:blipFill>
        <p:spPr>
          <a:xfrm>
            <a:off x="1105102" y="4069074"/>
            <a:ext cx="274324" cy="274325"/>
          </a:xfrm>
          <a:prstGeom prst="rect">
            <a:avLst/>
          </a:prstGeom>
          <a:ln w="12700">
            <a:miter lim="400000"/>
          </a:ln>
        </p:spPr>
      </p:pic>
      <p:sp>
        <p:nvSpPr>
          <p:cNvPr id="315" name="Text 14"/>
          <p:cNvSpPr txBox="1"/>
          <p:nvPr/>
        </p:nvSpPr>
        <p:spPr>
          <a:xfrm>
            <a:off x="1690319" y="3818195"/>
            <a:ext cx="4206245"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62626"/>
                </a:solidFill>
              </a:defRPr>
            </a:lvl1pPr>
          </a:lstStyle>
          <a:p>
            <a:pPr/>
            <a:r>
              <a:t>Хешування паролів</a:t>
            </a:r>
          </a:p>
        </p:txBody>
      </p:sp>
      <p:sp>
        <p:nvSpPr>
          <p:cNvPr id="316" name="Text 15"/>
          <p:cNvSpPr txBox="1"/>
          <p:nvPr/>
        </p:nvSpPr>
        <p:spPr>
          <a:xfrm>
            <a:off x="1690319" y="4211978"/>
            <a:ext cx="4206245" cy="427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F5F5F"/>
                </a:solidFill>
              </a:defRPr>
            </a:lvl1pPr>
          </a:lstStyle>
          <a:p>
            <a:pPr/>
            <a:r>
              <a:t>Алгоритм bcrypt із сіллю — паролі не зберігаються у відкритому вигляді</a:t>
            </a:r>
          </a:p>
        </p:txBody>
      </p:sp>
      <p:sp>
        <p:nvSpPr>
          <p:cNvPr id="317" name="Shape 16"/>
          <p:cNvSpPr/>
          <p:nvPr/>
        </p:nvSpPr>
        <p:spPr>
          <a:xfrm>
            <a:off x="6353759" y="3538723"/>
            <a:ext cx="5349243" cy="1298452"/>
          </a:xfrm>
          <a:prstGeom prst="roundRect">
            <a:avLst>
              <a:gd name="adj" fmla="val 7042"/>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18" name="Shape 17"/>
          <p:cNvSpPr/>
          <p:nvPr/>
        </p:nvSpPr>
        <p:spPr>
          <a:xfrm>
            <a:off x="6609791" y="3950205"/>
            <a:ext cx="512071" cy="512071"/>
          </a:xfrm>
          <a:prstGeom prst="ellipse">
            <a:avLst/>
          </a:prstGeom>
          <a:solidFill>
            <a:srgbClr val="8456F0"/>
          </a:solidFill>
          <a:ln w="12700">
            <a:miter lim="400000"/>
          </a:ln>
        </p:spPr>
        <p:txBody>
          <a:bodyPr lIns="45718" tIns="45718" rIns="45718" bIns="45718"/>
          <a:lstStyle/>
          <a:p>
            <a:pPr/>
          </a:p>
        </p:txBody>
      </p:sp>
      <p:pic>
        <p:nvPicPr>
          <p:cNvPr id="319" name="Image 5" descr="Image 5"/>
          <p:cNvPicPr>
            <a:picLocks noChangeAspect="1"/>
          </p:cNvPicPr>
          <p:nvPr/>
        </p:nvPicPr>
        <p:blipFill>
          <a:blip r:embed="rId6">
            <a:extLst/>
          </a:blip>
          <a:stretch>
            <a:fillRect/>
          </a:stretch>
        </p:blipFill>
        <p:spPr>
          <a:xfrm>
            <a:off x="6728662" y="4069074"/>
            <a:ext cx="274324" cy="274325"/>
          </a:xfrm>
          <a:prstGeom prst="rect">
            <a:avLst/>
          </a:prstGeom>
          <a:ln w="12700">
            <a:miter lim="400000"/>
          </a:ln>
        </p:spPr>
      </p:pic>
      <p:sp>
        <p:nvSpPr>
          <p:cNvPr id="320" name="Text 18"/>
          <p:cNvSpPr txBox="1"/>
          <p:nvPr/>
        </p:nvSpPr>
        <p:spPr>
          <a:xfrm>
            <a:off x="7313879" y="3818195"/>
            <a:ext cx="4206245"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62626"/>
                </a:solidFill>
              </a:defRPr>
            </a:lvl1pPr>
          </a:lstStyle>
          <a:p>
            <a:pPr/>
            <a:r>
              <a:t>Відновлення пароля</a:t>
            </a:r>
          </a:p>
        </p:txBody>
      </p:sp>
      <p:sp>
        <p:nvSpPr>
          <p:cNvPr id="321" name="Text 19"/>
          <p:cNvSpPr txBox="1"/>
          <p:nvPr/>
        </p:nvSpPr>
        <p:spPr>
          <a:xfrm>
            <a:off x="7313879" y="4211978"/>
            <a:ext cx="4206245" cy="427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F5F5F"/>
                </a:solidFill>
              </a:defRPr>
            </a:lvl1pPr>
          </a:lstStyle>
          <a:p>
            <a:pPr/>
            <a:r>
              <a:t>Одноразовий токен (crypto) з обмеженим терміном дії — 30 хвилин</a:t>
            </a:r>
          </a:p>
        </p:txBody>
      </p:sp>
      <p:sp>
        <p:nvSpPr>
          <p:cNvPr id="322" name="Shape 20"/>
          <p:cNvSpPr/>
          <p:nvPr/>
        </p:nvSpPr>
        <p:spPr>
          <a:xfrm>
            <a:off x="730200" y="5038340"/>
            <a:ext cx="5349241" cy="1298452"/>
          </a:xfrm>
          <a:prstGeom prst="roundRect">
            <a:avLst>
              <a:gd name="adj" fmla="val 7042"/>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23" name="Shape 21"/>
          <p:cNvSpPr/>
          <p:nvPr/>
        </p:nvSpPr>
        <p:spPr>
          <a:xfrm>
            <a:off x="986230" y="5449820"/>
            <a:ext cx="512071" cy="512071"/>
          </a:xfrm>
          <a:prstGeom prst="ellipse">
            <a:avLst/>
          </a:prstGeom>
          <a:solidFill>
            <a:srgbClr val="8456F0"/>
          </a:solidFill>
          <a:ln w="12700">
            <a:miter lim="400000"/>
          </a:ln>
        </p:spPr>
        <p:txBody>
          <a:bodyPr lIns="45718" tIns="45718" rIns="45718" bIns="45718"/>
          <a:lstStyle/>
          <a:p>
            <a:pPr/>
          </a:p>
        </p:txBody>
      </p:sp>
      <p:pic>
        <p:nvPicPr>
          <p:cNvPr id="324" name="Image 6" descr="Image 6"/>
          <p:cNvPicPr>
            <a:picLocks noChangeAspect="1"/>
          </p:cNvPicPr>
          <p:nvPr/>
        </p:nvPicPr>
        <p:blipFill>
          <a:blip r:embed="rId7">
            <a:extLst/>
          </a:blip>
          <a:stretch>
            <a:fillRect/>
          </a:stretch>
        </p:blipFill>
        <p:spPr>
          <a:xfrm>
            <a:off x="1105102" y="5568691"/>
            <a:ext cx="274324" cy="274324"/>
          </a:xfrm>
          <a:prstGeom prst="rect">
            <a:avLst/>
          </a:prstGeom>
          <a:ln w="12700">
            <a:miter lim="400000"/>
          </a:ln>
        </p:spPr>
      </p:pic>
      <p:sp>
        <p:nvSpPr>
          <p:cNvPr id="325" name="Text 22"/>
          <p:cNvSpPr txBox="1"/>
          <p:nvPr/>
        </p:nvSpPr>
        <p:spPr>
          <a:xfrm>
            <a:off x="1690319" y="5317811"/>
            <a:ext cx="4206245"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62626"/>
                </a:solidFill>
              </a:defRPr>
            </a:lvl1pPr>
          </a:lstStyle>
          <a:p>
            <a:pPr/>
            <a:r>
              <a:t>Google OAuth</a:t>
            </a:r>
          </a:p>
        </p:txBody>
      </p:sp>
      <p:sp>
        <p:nvSpPr>
          <p:cNvPr id="326" name="Text 23"/>
          <p:cNvSpPr txBox="1"/>
          <p:nvPr/>
        </p:nvSpPr>
        <p:spPr>
          <a:xfrm>
            <a:off x="1690319" y="5711595"/>
            <a:ext cx="4206245" cy="427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F5F5F"/>
                </a:solidFill>
              </a:defRPr>
            </a:lvl1pPr>
          </a:lstStyle>
          <a:p>
            <a:pPr/>
            <a:r>
              <a:t>Вхід через обліковий запис Google з перевіркою idToken</a:t>
            </a:r>
          </a:p>
        </p:txBody>
      </p:sp>
      <p:sp>
        <p:nvSpPr>
          <p:cNvPr id="327" name="Shape 24"/>
          <p:cNvSpPr/>
          <p:nvPr/>
        </p:nvSpPr>
        <p:spPr>
          <a:xfrm>
            <a:off x="6353759" y="5038340"/>
            <a:ext cx="5349243" cy="1298452"/>
          </a:xfrm>
          <a:prstGeom prst="roundRect">
            <a:avLst>
              <a:gd name="adj" fmla="val 7042"/>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28" name="Shape 25"/>
          <p:cNvSpPr/>
          <p:nvPr/>
        </p:nvSpPr>
        <p:spPr>
          <a:xfrm>
            <a:off x="6609791" y="5449820"/>
            <a:ext cx="512071" cy="512071"/>
          </a:xfrm>
          <a:prstGeom prst="ellipse">
            <a:avLst/>
          </a:prstGeom>
          <a:solidFill>
            <a:srgbClr val="8456F0"/>
          </a:solidFill>
          <a:ln w="12700">
            <a:miter lim="400000"/>
          </a:ln>
        </p:spPr>
        <p:txBody>
          <a:bodyPr lIns="45718" tIns="45718" rIns="45718" bIns="45718"/>
          <a:lstStyle/>
          <a:p>
            <a:pPr/>
          </a:p>
        </p:txBody>
      </p:sp>
      <p:pic>
        <p:nvPicPr>
          <p:cNvPr id="329" name="Image 7" descr="Image 7"/>
          <p:cNvPicPr>
            <a:picLocks noChangeAspect="1"/>
          </p:cNvPicPr>
          <p:nvPr/>
        </p:nvPicPr>
        <p:blipFill>
          <a:blip r:embed="rId8">
            <a:extLst/>
          </a:blip>
          <a:stretch>
            <a:fillRect/>
          </a:stretch>
        </p:blipFill>
        <p:spPr>
          <a:xfrm>
            <a:off x="6728662" y="5568691"/>
            <a:ext cx="274324" cy="274324"/>
          </a:xfrm>
          <a:prstGeom prst="rect">
            <a:avLst/>
          </a:prstGeom>
          <a:ln w="12700">
            <a:miter lim="400000"/>
          </a:ln>
        </p:spPr>
      </p:pic>
      <p:sp>
        <p:nvSpPr>
          <p:cNvPr id="330" name="Text 26"/>
          <p:cNvSpPr txBox="1"/>
          <p:nvPr/>
        </p:nvSpPr>
        <p:spPr>
          <a:xfrm>
            <a:off x="7313879" y="5317811"/>
            <a:ext cx="4206245"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62626"/>
                </a:solidFill>
              </a:defRPr>
            </a:lvl1pPr>
          </a:lstStyle>
          <a:p>
            <a:pPr/>
            <a:r>
              <a:t>Валідація даних</a:t>
            </a:r>
          </a:p>
        </p:txBody>
      </p:sp>
      <p:sp>
        <p:nvSpPr>
          <p:cNvPr id="331" name="Text 27"/>
          <p:cNvSpPr txBox="1"/>
          <p:nvPr/>
        </p:nvSpPr>
        <p:spPr>
          <a:xfrm>
            <a:off x="7313879" y="5711595"/>
            <a:ext cx="4206245" cy="427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sz="1400">
                <a:solidFill>
                  <a:srgbClr val="5F5F5F"/>
                </a:solidFill>
              </a:defRPr>
            </a:lvl1pPr>
          </a:lstStyle>
          <a:p>
            <a:pPr/>
            <a:r>
              <a:t>Перевірка вхідних даних запитів за схемами бібліотеки zod</a:t>
            </a:r>
          </a:p>
        </p:txBody>
      </p:sp>
      <p:sp>
        <p:nvSpPr>
          <p:cNvPr id="332"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10</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34" name="Image 0" descr="Image 0"/>
          <p:cNvPicPr>
            <a:picLocks noChangeAspect="1"/>
          </p:cNvPicPr>
          <p:nvPr/>
        </p:nvPicPr>
        <p:blipFill>
          <a:blip r:embed="rId2">
            <a:extLst/>
          </a:blip>
          <a:stretch>
            <a:fillRect/>
          </a:stretch>
        </p:blipFill>
        <p:spPr>
          <a:xfrm>
            <a:off x="777240" y="502919"/>
            <a:ext cx="329188" cy="329188"/>
          </a:xfrm>
          <a:prstGeom prst="rect">
            <a:avLst/>
          </a:prstGeom>
          <a:ln w="12700">
            <a:miter lim="400000"/>
          </a:ln>
        </p:spPr>
      </p:pic>
      <p:sp>
        <p:nvSpPr>
          <p:cNvPr id="335" name="Text 0"/>
          <p:cNvSpPr txBox="1"/>
          <p:nvPr/>
        </p:nvSpPr>
        <p:spPr>
          <a:xfrm>
            <a:off x="1252727" y="505697"/>
            <a:ext cx="1051560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1F1F"/>
                </a:solidFill>
              </a:defRPr>
            </a:lvl1pPr>
          </a:lstStyle>
          <a:p>
            <a:pPr/>
            <a:r>
              <a:t>UI / UX дизайн системи</a:t>
            </a:r>
          </a:p>
        </p:txBody>
      </p:sp>
      <p:sp>
        <p:nvSpPr>
          <p:cNvPr id="336" name="Shape 1"/>
          <p:cNvSpPr/>
          <p:nvPr/>
        </p:nvSpPr>
        <p:spPr>
          <a:xfrm>
            <a:off x="778764" y="1012637"/>
            <a:ext cx="10634472" cy="1"/>
          </a:xfrm>
          <a:prstGeom prst="line">
            <a:avLst/>
          </a:prstGeom>
          <a:ln w="12700">
            <a:solidFill>
              <a:srgbClr val="E6E0F5"/>
            </a:solidFill>
          </a:ln>
        </p:spPr>
        <p:txBody>
          <a:bodyPr lIns="45718" tIns="45718" rIns="45718" bIns="45718"/>
          <a:lstStyle/>
          <a:p>
            <a:pPr/>
          </a:p>
        </p:txBody>
      </p:sp>
      <p:sp>
        <p:nvSpPr>
          <p:cNvPr id="337" name="Text 3"/>
          <p:cNvSpPr txBox="1"/>
          <p:nvPr/>
        </p:nvSpPr>
        <p:spPr>
          <a:xfrm>
            <a:off x="851071" y="1193169"/>
            <a:ext cx="5350929" cy="117552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17999"/>
              </a:lnSpc>
              <a:defRPr sz="1600">
                <a:solidFill>
                  <a:srgbClr val="1F1F1F"/>
                </a:solidFill>
              </a:defRPr>
            </a:lvl1pPr>
          </a:lstStyle>
          <a:p>
            <a:pPr/>
            <a:r>
              <a:t>Проєктування інтерфейсу здійснювалося у два етапи: спершу прототип у Figma, а згодом реалізація засобами Next.js, React і Tailwind CSS. Візуальний стиль витримано в єдиній лаконічній і сучасній стилістиці.</a:t>
            </a:r>
          </a:p>
        </p:txBody>
      </p:sp>
      <p:sp>
        <p:nvSpPr>
          <p:cNvPr id="338" name="Shape 4"/>
          <p:cNvSpPr/>
          <p:nvPr/>
        </p:nvSpPr>
        <p:spPr>
          <a:xfrm>
            <a:off x="642444" y="2613037"/>
            <a:ext cx="548648" cy="548646"/>
          </a:xfrm>
          <a:prstGeom prst="ellipse">
            <a:avLst/>
          </a:prstGeom>
          <a:solidFill>
            <a:srgbClr val="F4EEFF"/>
          </a:solidFill>
          <a:ln w="12700">
            <a:miter lim="400000"/>
          </a:ln>
        </p:spPr>
        <p:txBody>
          <a:bodyPr lIns="45718" tIns="45718" rIns="45718" bIns="45718"/>
          <a:lstStyle/>
          <a:p>
            <a:pPr/>
          </a:p>
        </p:txBody>
      </p:sp>
      <p:pic>
        <p:nvPicPr>
          <p:cNvPr id="339" name="Image 2" descr="Image 2"/>
          <p:cNvPicPr>
            <a:picLocks noChangeAspect="1"/>
          </p:cNvPicPr>
          <p:nvPr/>
        </p:nvPicPr>
        <p:blipFill>
          <a:blip r:embed="rId3">
            <a:extLst/>
          </a:blip>
          <a:stretch>
            <a:fillRect/>
          </a:stretch>
        </p:blipFill>
        <p:spPr>
          <a:xfrm>
            <a:off x="779604" y="2750198"/>
            <a:ext cx="274324" cy="274324"/>
          </a:xfrm>
          <a:prstGeom prst="rect">
            <a:avLst/>
          </a:prstGeom>
          <a:ln w="12700">
            <a:miter lim="400000"/>
          </a:ln>
        </p:spPr>
      </p:pic>
      <p:sp>
        <p:nvSpPr>
          <p:cNvPr id="340" name="Text 5"/>
          <p:cNvSpPr txBox="1"/>
          <p:nvPr/>
        </p:nvSpPr>
        <p:spPr>
          <a:xfrm>
            <a:off x="1355674" y="2691341"/>
            <a:ext cx="4754886"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62626"/>
                </a:solidFill>
              </a:defRPr>
            </a:lvl1pPr>
          </a:lstStyle>
          <a:p>
            <a:pPr/>
            <a:r>
              <a:t>Прототипування у Figma</a:t>
            </a:r>
          </a:p>
        </p:txBody>
      </p:sp>
      <p:sp>
        <p:nvSpPr>
          <p:cNvPr id="341" name="Text 6"/>
          <p:cNvSpPr txBox="1"/>
          <p:nvPr/>
        </p:nvSpPr>
        <p:spPr>
          <a:xfrm>
            <a:off x="1355674" y="3069353"/>
            <a:ext cx="4846327" cy="44068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2000"/>
              </a:lnSpc>
              <a:defRPr sz="1400">
                <a:solidFill>
                  <a:srgbClr val="5F5F5F"/>
                </a:solidFill>
              </a:defRPr>
            </a:lvl1pPr>
          </a:lstStyle>
          <a:p>
            <a:pPr/>
            <a:r>
              <a:t>Дизайн інтерфейсу спершу спроєктовано у Figma, а згодом реалізовано засобами Next.js, React і Tailwind CSS.</a:t>
            </a:r>
          </a:p>
        </p:txBody>
      </p:sp>
      <p:sp>
        <p:nvSpPr>
          <p:cNvPr id="342" name="Shape 7"/>
          <p:cNvSpPr/>
          <p:nvPr/>
        </p:nvSpPr>
        <p:spPr>
          <a:xfrm>
            <a:off x="642444" y="3801759"/>
            <a:ext cx="548648" cy="548645"/>
          </a:xfrm>
          <a:prstGeom prst="ellipse">
            <a:avLst/>
          </a:prstGeom>
          <a:solidFill>
            <a:srgbClr val="F4EEFF"/>
          </a:solidFill>
          <a:ln w="12700">
            <a:miter lim="400000"/>
          </a:ln>
        </p:spPr>
        <p:txBody>
          <a:bodyPr lIns="45718" tIns="45718" rIns="45718" bIns="45718"/>
          <a:lstStyle/>
          <a:p>
            <a:pPr/>
          </a:p>
        </p:txBody>
      </p:sp>
      <p:pic>
        <p:nvPicPr>
          <p:cNvPr id="343" name="Image 3" descr="Image 3"/>
          <p:cNvPicPr>
            <a:picLocks noChangeAspect="1"/>
          </p:cNvPicPr>
          <p:nvPr/>
        </p:nvPicPr>
        <p:blipFill>
          <a:blip r:embed="rId4">
            <a:extLst/>
          </a:blip>
          <a:stretch>
            <a:fillRect/>
          </a:stretch>
        </p:blipFill>
        <p:spPr>
          <a:xfrm>
            <a:off x="779604" y="3938918"/>
            <a:ext cx="274324" cy="274324"/>
          </a:xfrm>
          <a:prstGeom prst="rect">
            <a:avLst/>
          </a:prstGeom>
          <a:ln w="12700">
            <a:miter lim="400000"/>
          </a:ln>
        </p:spPr>
      </p:pic>
      <p:sp>
        <p:nvSpPr>
          <p:cNvPr id="344" name="Text 8"/>
          <p:cNvSpPr txBox="1"/>
          <p:nvPr/>
        </p:nvSpPr>
        <p:spPr>
          <a:xfrm>
            <a:off x="1355674" y="3880061"/>
            <a:ext cx="4754886"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62626"/>
                </a:solidFill>
              </a:defRPr>
            </a:lvl1pPr>
          </a:lstStyle>
          <a:p>
            <a:pPr/>
            <a:r>
              <a:t>Шрифт Manrope</a:t>
            </a:r>
          </a:p>
        </p:txBody>
      </p:sp>
      <p:sp>
        <p:nvSpPr>
          <p:cNvPr id="345" name="Text 9"/>
          <p:cNvSpPr txBox="1"/>
          <p:nvPr/>
        </p:nvSpPr>
        <p:spPr>
          <a:xfrm>
            <a:off x="1355674" y="4258073"/>
            <a:ext cx="4846327" cy="44068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2000"/>
              </a:lnSpc>
              <a:defRPr sz="1400">
                <a:solidFill>
                  <a:srgbClr val="5F5F5F"/>
                </a:solidFill>
              </a:defRPr>
            </a:lvl1pPr>
          </a:lstStyle>
          <a:p>
            <a:pPr/>
            <a:r>
              <a:t>Сучасний шрифт з підтримкою кирилиці та кількома накресленнями забезпечує гарну читабельність.</a:t>
            </a:r>
          </a:p>
        </p:txBody>
      </p:sp>
      <p:sp>
        <p:nvSpPr>
          <p:cNvPr id="346" name="Shape 10"/>
          <p:cNvSpPr/>
          <p:nvPr/>
        </p:nvSpPr>
        <p:spPr>
          <a:xfrm>
            <a:off x="642444" y="4990479"/>
            <a:ext cx="548648" cy="548647"/>
          </a:xfrm>
          <a:prstGeom prst="ellipse">
            <a:avLst/>
          </a:prstGeom>
          <a:solidFill>
            <a:srgbClr val="F4EEFF"/>
          </a:solidFill>
          <a:ln w="12700">
            <a:miter lim="400000"/>
          </a:ln>
        </p:spPr>
        <p:txBody>
          <a:bodyPr lIns="45718" tIns="45718" rIns="45718" bIns="45718"/>
          <a:lstStyle/>
          <a:p>
            <a:pPr/>
          </a:p>
        </p:txBody>
      </p:sp>
      <p:pic>
        <p:nvPicPr>
          <p:cNvPr id="347" name="Image 4" descr="Image 4"/>
          <p:cNvPicPr>
            <a:picLocks noChangeAspect="1"/>
          </p:cNvPicPr>
          <p:nvPr/>
        </p:nvPicPr>
        <p:blipFill>
          <a:blip r:embed="rId5">
            <a:extLst/>
          </a:blip>
          <a:stretch>
            <a:fillRect/>
          </a:stretch>
        </p:blipFill>
        <p:spPr>
          <a:xfrm>
            <a:off x="779604" y="5127637"/>
            <a:ext cx="274324" cy="274324"/>
          </a:xfrm>
          <a:prstGeom prst="rect">
            <a:avLst/>
          </a:prstGeom>
          <a:ln w="12700">
            <a:miter lim="400000"/>
          </a:ln>
        </p:spPr>
      </p:pic>
      <p:sp>
        <p:nvSpPr>
          <p:cNvPr id="348" name="Text 11"/>
          <p:cNvSpPr txBox="1"/>
          <p:nvPr/>
        </p:nvSpPr>
        <p:spPr>
          <a:xfrm>
            <a:off x="1355674" y="5068780"/>
            <a:ext cx="4754886"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62626"/>
                </a:solidFill>
              </a:defRPr>
            </a:lvl1pPr>
          </a:lstStyle>
          <a:p>
            <a:pPr/>
            <a:r>
              <a:t>Зручність та доступність</a:t>
            </a:r>
          </a:p>
        </p:txBody>
      </p:sp>
      <p:sp>
        <p:nvSpPr>
          <p:cNvPr id="349" name="Text 12"/>
          <p:cNvSpPr txBox="1"/>
          <p:nvPr/>
        </p:nvSpPr>
        <p:spPr>
          <a:xfrm>
            <a:off x="1355674" y="5446793"/>
            <a:ext cx="4846327" cy="44068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2000"/>
              </a:lnSpc>
              <a:defRPr sz="1400">
                <a:solidFill>
                  <a:srgbClr val="5F5F5F"/>
                </a:solidFill>
              </a:defRPr>
            </a:lvl1pPr>
          </a:lstStyle>
          <a:p>
            <a:pPr/>
            <a:r>
              <a:t>Уніфіковані компоненти, адаптивний дизайн, модальні вікна, «хлібні крихти» та видимий контур фокуса.</a:t>
            </a:r>
          </a:p>
        </p:txBody>
      </p:sp>
      <p:sp>
        <p:nvSpPr>
          <p:cNvPr id="350" name="Shape 13"/>
          <p:cNvSpPr/>
          <p:nvPr/>
        </p:nvSpPr>
        <p:spPr>
          <a:xfrm>
            <a:off x="6428914" y="1671206"/>
            <a:ext cx="5120643" cy="4526282"/>
          </a:xfrm>
          <a:prstGeom prst="roundRect">
            <a:avLst>
              <a:gd name="adj" fmla="val 2424"/>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51" name="Shape 14"/>
          <p:cNvSpPr/>
          <p:nvPr/>
        </p:nvSpPr>
        <p:spPr>
          <a:xfrm>
            <a:off x="6794672" y="1991247"/>
            <a:ext cx="548647" cy="548647"/>
          </a:xfrm>
          <a:prstGeom prst="ellipse">
            <a:avLst/>
          </a:prstGeom>
          <a:solidFill>
            <a:srgbClr val="8456F0"/>
          </a:solidFill>
          <a:ln w="12700">
            <a:miter lim="400000"/>
          </a:ln>
        </p:spPr>
        <p:txBody>
          <a:bodyPr lIns="45718" tIns="45718" rIns="45718" bIns="45718"/>
          <a:lstStyle/>
          <a:p>
            <a:pPr/>
          </a:p>
        </p:txBody>
      </p:sp>
      <p:pic>
        <p:nvPicPr>
          <p:cNvPr id="352" name="Image 5" descr="Image 5"/>
          <p:cNvPicPr>
            <a:picLocks noChangeAspect="1"/>
          </p:cNvPicPr>
          <p:nvPr/>
        </p:nvPicPr>
        <p:blipFill>
          <a:blip r:embed="rId6">
            <a:extLst/>
          </a:blip>
          <a:stretch>
            <a:fillRect/>
          </a:stretch>
        </p:blipFill>
        <p:spPr>
          <a:xfrm>
            <a:off x="6931831" y="2128404"/>
            <a:ext cx="274324" cy="274324"/>
          </a:xfrm>
          <a:prstGeom prst="rect">
            <a:avLst/>
          </a:prstGeom>
          <a:ln w="12700">
            <a:miter lim="400000"/>
          </a:ln>
        </p:spPr>
      </p:pic>
      <p:sp>
        <p:nvSpPr>
          <p:cNvPr id="353" name="Text 15"/>
          <p:cNvSpPr txBox="1"/>
          <p:nvPr/>
        </p:nvSpPr>
        <p:spPr>
          <a:xfrm>
            <a:off x="7434753" y="2165560"/>
            <a:ext cx="3931923"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62626"/>
                </a:solidFill>
              </a:defRPr>
            </a:lvl1pPr>
          </a:lstStyle>
          <a:p>
            <a:pPr/>
            <a:r>
              <a:t>Кольорова палітра інтерфейсу</a:t>
            </a:r>
          </a:p>
        </p:txBody>
      </p:sp>
      <p:sp>
        <p:nvSpPr>
          <p:cNvPr id="354" name="Shape 16"/>
          <p:cNvSpPr/>
          <p:nvPr/>
        </p:nvSpPr>
        <p:spPr>
          <a:xfrm>
            <a:off x="6794672" y="2786775"/>
            <a:ext cx="4389123" cy="475492"/>
          </a:xfrm>
          <a:prstGeom prst="roundRect">
            <a:avLst>
              <a:gd name="adj" fmla="val 11538"/>
            </a:avLst>
          </a:prstGeom>
          <a:solidFill>
            <a:srgbClr val="8456F0"/>
          </a:solidFill>
          <a:ln w="12700">
            <a:miter lim="400000"/>
          </a:ln>
        </p:spPr>
        <p:txBody>
          <a:bodyPr lIns="45718" tIns="45718" rIns="45718" bIns="45718"/>
          <a:lstStyle/>
          <a:p>
            <a:pPr/>
          </a:p>
        </p:txBody>
      </p:sp>
      <p:sp>
        <p:nvSpPr>
          <p:cNvPr id="355" name="Text 17"/>
          <p:cNvSpPr txBox="1"/>
          <p:nvPr/>
        </p:nvSpPr>
        <p:spPr>
          <a:xfrm>
            <a:off x="7023272" y="2929839"/>
            <a:ext cx="2743203"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Основний акцентний</a:t>
            </a:r>
          </a:p>
        </p:txBody>
      </p:sp>
      <p:sp>
        <p:nvSpPr>
          <p:cNvPr id="356" name="Text 18"/>
          <p:cNvSpPr txBox="1"/>
          <p:nvPr/>
        </p:nvSpPr>
        <p:spPr>
          <a:xfrm>
            <a:off x="9400713" y="2916567"/>
            <a:ext cx="160020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FFFFFF"/>
                </a:solidFill>
                <a:latin typeface="Consolas"/>
                <a:ea typeface="Consolas"/>
                <a:cs typeface="Consolas"/>
                <a:sym typeface="Consolas"/>
              </a:defRPr>
            </a:lvl1pPr>
          </a:lstStyle>
          <a:p>
            <a:pPr/>
            <a:r>
              <a:t>#8456F0</a:t>
            </a:r>
          </a:p>
        </p:txBody>
      </p:sp>
      <p:sp>
        <p:nvSpPr>
          <p:cNvPr id="357" name="Shape 19"/>
          <p:cNvSpPr/>
          <p:nvPr/>
        </p:nvSpPr>
        <p:spPr>
          <a:xfrm>
            <a:off x="6794672" y="3335415"/>
            <a:ext cx="4389123" cy="475492"/>
          </a:xfrm>
          <a:prstGeom prst="roundRect">
            <a:avLst>
              <a:gd name="adj" fmla="val 11538"/>
            </a:avLst>
          </a:prstGeom>
          <a:solidFill>
            <a:srgbClr val="7045D1"/>
          </a:solidFill>
          <a:ln w="12700">
            <a:miter lim="400000"/>
          </a:ln>
        </p:spPr>
        <p:txBody>
          <a:bodyPr lIns="45718" tIns="45718" rIns="45718" bIns="45718"/>
          <a:lstStyle/>
          <a:p>
            <a:pPr/>
          </a:p>
        </p:txBody>
      </p:sp>
      <p:sp>
        <p:nvSpPr>
          <p:cNvPr id="358" name="Text 20"/>
          <p:cNvSpPr txBox="1"/>
          <p:nvPr/>
        </p:nvSpPr>
        <p:spPr>
          <a:xfrm>
            <a:off x="7023272" y="3478477"/>
            <a:ext cx="2743203"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Стан наведення</a:t>
            </a:r>
          </a:p>
        </p:txBody>
      </p:sp>
      <p:sp>
        <p:nvSpPr>
          <p:cNvPr id="359" name="Text 21"/>
          <p:cNvSpPr txBox="1"/>
          <p:nvPr/>
        </p:nvSpPr>
        <p:spPr>
          <a:xfrm>
            <a:off x="9400713" y="3465206"/>
            <a:ext cx="160020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FFFFFF"/>
                </a:solidFill>
                <a:latin typeface="Consolas"/>
                <a:ea typeface="Consolas"/>
                <a:cs typeface="Consolas"/>
                <a:sym typeface="Consolas"/>
              </a:defRPr>
            </a:lvl1pPr>
          </a:lstStyle>
          <a:p>
            <a:pPr/>
            <a:r>
              <a:t>#7045D1</a:t>
            </a:r>
          </a:p>
        </p:txBody>
      </p:sp>
      <p:sp>
        <p:nvSpPr>
          <p:cNvPr id="360" name="Shape 22"/>
          <p:cNvSpPr/>
          <p:nvPr/>
        </p:nvSpPr>
        <p:spPr>
          <a:xfrm>
            <a:off x="6794672" y="3884055"/>
            <a:ext cx="4389123" cy="475492"/>
          </a:xfrm>
          <a:prstGeom prst="roundRect">
            <a:avLst>
              <a:gd name="adj" fmla="val 11538"/>
            </a:avLst>
          </a:prstGeom>
          <a:solidFill>
            <a:srgbClr val="DACAFF"/>
          </a:solidFill>
          <a:ln w="12700">
            <a:miter lim="400000"/>
          </a:ln>
        </p:spPr>
        <p:txBody>
          <a:bodyPr lIns="45718" tIns="45718" rIns="45718" bIns="45718"/>
          <a:lstStyle/>
          <a:p>
            <a:pPr/>
          </a:p>
        </p:txBody>
      </p:sp>
      <p:sp>
        <p:nvSpPr>
          <p:cNvPr id="361" name="Text 23"/>
          <p:cNvSpPr txBox="1"/>
          <p:nvPr/>
        </p:nvSpPr>
        <p:spPr>
          <a:xfrm>
            <a:off x="7023272" y="4027118"/>
            <a:ext cx="2743203"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262626"/>
                </a:solidFill>
              </a:defRPr>
            </a:lvl1pPr>
          </a:lstStyle>
          <a:p>
            <a:pPr/>
            <a:r>
              <a:t>Вторинний</a:t>
            </a:r>
          </a:p>
        </p:txBody>
      </p:sp>
      <p:sp>
        <p:nvSpPr>
          <p:cNvPr id="362" name="Text 24"/>
          <p:cNvSpPr txBox="1"/>
          <p:nvPr/>
        </p:nvSpPr>
        <p:spPr>
          <a:xfrm>
            <a:off x="9400713" y="4013846"/>
            <a:ext cx="160020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262626"/>
                </a:solidFill>
                <a:latin typeface="Consolas"/>
                <a:ea typeface="Consolas"/>
                <a:cs typeface="Consolas"/>
                <a:sym typeface="Consolas"/>
              </a:defRPr>
            </a:lvl1pPr>
          </a:lstStyle>
          <a:p>
            <a:pPr/>
            <a:r>
              <a:t>#DACAFF</a:t>
            </a:r>
          </a:p>
        </p:txBody>
      </p:sp>
      <p:sp>
        <p:nvSpPr>
          <p:cNvPr id="363" name="Shape 25"/>
          <p:cNvSpPr/>
          <p:nvPr/>
        </p:nvSpPr>
        <p:spPr>
          <a:xfrm>
            <a:off x="6794672" y="4432694"/>
            <a:ext cx="4389123" cy="475492"/>
          </a:xfrm>
          <a:prstGeom prst="roundRect">
            <a:avLst>
              <a:gd name="adj" fmla="val 11538"/>
            </a:avLst>
          </a:prstGeom>
          <a:solidFill>
            <a:srgbClr val="F4EEFF"/>
          </a:solidFill>
          <a:ln w="12700">
            <a:miter lim="400000"/>
          </a:ln>
        </p:spPr>
        <p:txBody>
          <a:bodyPr lIns="45718" tIns="45718" rIns="45718" bIns="45718"/>
          <a:lstStyle/>
          <a:p>
            <a:pPr/>
          </a:p>
        </p:txBody>
      </p:sp>
      <p:sp>
        <p:nvSpPr>
          <p:cNvPr id="364" name="Text 26"/>
          <p:cNvSpPr txBox="1"/>
          <p:nvPr/>
        </p:nvSpPr>
        <p:spPr>
          <a:xfrm>
            <a:off x="7023272" y="4575758"/>
            <a:ext cx="2743203"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262626"/>
                </a:solidFill>
              </a:defRPr>
            </a:lvl1pPr>
          </a:lstStyle>
          <a:p>
            <a:pPr/>
            <a:r>
              <a:t>Світлий фіолетовий</a:t>
            </a:r>
          </a:p>
        </p:txBody>
      </p:sp>
      <p:sp>
        <p:nvSpPr>
          <p:cNvPr id="365" name="Text 27"/>
          <p:cNvSpPr txBox="1"/>
          <p:nvPr/>
        </p:nvSpPr>
        <p:spPr>
          <a:xfrm>
            <a:off x="9400713" y="4562486"/>
            <a:ext cx="160020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262626"/>
                </a:solidFill>
                <a:latin typeface="Consolas"/>
                <a:ea typeface="Consolas"/>
                <a:cs typeface="Consolas"/>
                <a:sym typeface="Consolas"/>
              </a:defRPr>
            </a:lvl1pPr>
          </a:lstStyle>
          <a:p>
            <a:pPr/>
            <a:r>
              <a:t>#F4EEFF</a:t>
            </a:r>
          </a:p>
        </p:txBody>
      </p:sp>
      <p:sp>
        <p:nvSpPr>
          <p:cNvPr id="366" name="Shape 28"/>
          <p:cNvSpPr/>
          <p:nvPr/>
        </p:nvSpPr>
        <p:spPr>
          <a:xfrm>
            <a:off x="6794672" y="4981335"/>
            <a:ext cx="4389123" cy="475492"/>
          </a:xfrm>
          <a:prstGeom prst="roundRect">
            <a:avLst>
              <a:gd name="adj" fmla="val 11538"/>
            </a:avLst>
          </a:prstGeom>
          <a:solidFill>
            <a:srgbClr val="E22F2F"/>
          </a:solidFill>
          <a:ln w="12700">
            <a:miter lim="400000"/>
          </a:ln>
        </p:spPr>
        <p:txBody>
          <a:bodyPr lIns="45718" tIns="45718" rIns="45718" bIns="45718"/>
          <a:lstStyle/>
          <a:p>
            <a:pPr/>
          </a:p>
        </p:txBody>
      </p:sp>
      <p:sp>
        <p:nvSpPr>
          <p:cNvPr id="367" name="Text 29"/>
          <p:cNvSpPr txBox="1"/>
          <p:nvPr/>
        </p:nvSpPr>
        <p:spPr>
          <a:xfrm>
            <a:off x="7023272" y="5124397"/>
            <a:ext cx="2743203"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Небезпека / помилка</a:t>
            </a:r>
          </a:p>
        </p:txBody>
      </p:sp>
      <p:sp>
        <p:nvSpPr>
          <p:cNvPr id="368" name="Text 30"/>
          <p:cNvSpPr txBox="1"/>
          <p:nvPr/>
        </p:nvSpPr>
        <p:spPr>
          <a:xfrm>
            <a:off x="9400713" y="5111127"/>
            <a:ext cx="160020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FFFFFF"/>
                </a:solidFill>
                <a:latin typeface="Consolas"/>
                <a:ea typeface="Consolas"/>
                <a:cs typeface="Consolas"/>
                <a:sym typeface="Consolas"/>
              </a:defRPr>
            </a:lvl1pPr>
          </a:lstStyle>
          <a:p>
            <a:pPr/>
            <a:r>
              <a:t>#E22F2F</a:t>
            </a:r>
          </a:p>
        </p:txBody>
      </p:sp>
      <p:sp>
        <p:nvSpPr>
          <p:cNvPr id="369" name="Shape 31"/>
          <p:cNvSpPr/>
          <p:nvPr/>
        </p:nvSpPr>
        <p:spPr>
          <a:xfrm>
            <a:off x="6794672" y="5529974"/>
            <a:ext cx="4389123" cy="475492"/>
          </a:xfrm>
          <a:prstGeom prst="roundRect">
            <a:avLst>
              <a:gd name="adj" fmla="val 11538"/>
            </a:avLst>
          </a:prstGeom>
          <a:solidFill>
            <a:srgbClr val="262626"/>
          </a:solidFill>
          <a:ln w="12700">
            <a:miter lim="400000"/>
          </a:ln>
        </p:spPr>
        <p:txBody>
          <a:bodyPr lIns="45718" tIns="45718" rIns="45718" bIns="45718"/>
          <a:lstStyle/>
          <a:p>
            <a:pPr/>
          </a:p>
        </p:txBody>
      </p:sp>
      <p:sp>
        <p:nvSpPr>
          <p:cNvPr id="370" name="Text 32"/>
          <p:cNvSpPr txBox="1"/>
          <p:nvPr/>
        </p:nvSpPr>
        <p:spPr>
          <a:xfrm>
            <a:off x="7023272" y="5673038"/>
            <a:ext cx="2743203"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Основний текст</a:t>
            </a:r>
          </a:p>
        </p:txBody>
      </p:sp>
      <p:sp>
        <p:nvSpPr>
          <p:cNvPr id="371" name="Text 33"/>
          <p:cNvSpPr txBox="1"/>
          <p:nvPr/>
        </p:nvSpPr>
        <p:spPr>
          <a:xfrm>
            <a:off x="9400713" y="5659767"/>
            <a:ext cx="160020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FFFFFF"/>
                </a:solidFill>
                <a:latin typeface="Consolas"/>
                <a:ea typeface="Consolas"/>
                <a:cs typeface="Consolas"/>
                <a:sym typeface="Consolas"/>
              </a:defRPr>
            </a:lvl1pPr>
          </a:lstStyle>
          <a:p>
            <a:pPr/>
            <a:r>
              <a:t>#262626</a:t>
            </a:r>
          </a:p>
        </p:txBody>
      </p:sp>
      <p:sp>
        <p:nvSpPr>
          <p:cNvPr id="372"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11</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74" name="Image 0" descr="Image 0"/>
          <p:cNvPicPr>
            <a:picLocks noChangeAspect="1"/>
          </p:cNvPicPr>
          <p:nvPr/>
        </p:nvPicPr>
        <p:blipFill>
          <a:blip r:embed="rId2">
            <a:extLst/>
          </a:blip>
          <a:stretch>
            <a:fillRect/>
          </a:stretch>
        </p:blipFill>
        <p:spPr>
          <a:xfrm>
            <a:off x="777240" y="502919"/>
            <a:ext cx="329188" cy="329188"/>
          </a:xfrm>
          <a:prstGeom prst="rect">
            <a:avLst/>
          </a:prstGeom>
          <a:ln w="12700">
            <a:miter lim="400000"/>
          </a:ln>
        </p:spPr>
      </p:pic>
      <p:sp>
        <p:nvSpPr>
          <p:cNvPr id="375" name="Text 0"/>
          <p:cNvSpPr txBox="1"/>
          <p:nvPr/>
        </p:nvSpPr>
        <p:spPr>
          <a:xfrm>
            <a:off x="1252727" y="505697"/>
            <a:ext cx="1051560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1F1F"/>
                </a:solidFill>
              </a:defRPr>
            </a:lvl1pPr>
          </a:lstStyle>
          <a:p>
            <a:pPr/>
            <a:r>
              <a:t>Тестування програмного забезпечення</a:t>
            </a:r>
          </a:p>
        </p:txBody>
      </p:sp>
      <p:sp>
        <p:nvSpPr>
          <p:cNvPr id="376" name="Shape 1"/>
          <p:cNvSpPr/>
          <p:nvPr/>
        </p:nvSpPr>
        <p:spPr>
          <a:xfrm>
            <a:off x="778762" y="1033655"/>
            <a:ext cx="10975855" cy="1"/>
          </a:xfrm>
          <a:prstGeom prst="line">
            <a:avLst/>
          </a:prstGeom>
          <a:ln w="12700">
            <a:solidFill>
              <a:srgbClr val="E6E0F5"/>
            </a:solidFill>
          </a:ln>
        </p:spPr>
        <p:txBody>
          <a:bodyPr lIns="45718" tIns="45718" rIns="45718" bIns="45718"/>
          <a:lstStyle/>
          <a:p>
            <a:pPr/>
          </a:p>
        </p:txBody>
      </p:sp>
      <p:sp>
        <p:nvSpPr>
          <p:cNvPr id="377" name="Text 3"/>
          <p:cNvSpPr txBox="1"/>
          <p:nvPr/>
        </p:nvSpPr>
        <p:spPr>
          <a:xfrm>
            <a:off x="838199" y="1088351"/>
            <a:ext cx="11092885" cy="59223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17999"/>
              </a:lnSpc>
              <a:defRPr sz="1600">
                <a:solidFill>
                  <a:srgbClr val="1F1F1F"/>
                </a:solidFill>
              </a:defRPr>
            </a:lvl1pPr>
          </a:lstStyle>
          <a:p>
            <a:pPr/>
            <a:r>
              <a:t>Основним підходом обрано ручне функціональне тестування за методом «чорної скриньки» за заздалегідь підготовленими тест-кейсами, що охоплюють основні сценарії використання системи.</a:t>
            </a:r>
          </a:p>
        </p:txBody>
      </p:sp>
      <p:sp>
        <p:nvSpPr>
          <p:cNvPr id="378" name="Text 9"/>
          <p:cNvSpPr txBox="1"/>
          <p:nvPr/>
        </p:nvSpPr>
        <p:spPr>
          <a:xfrm>
            <a:off x="4540474" y="1934665"/>
            <a:ext cx="7223760" cy="2581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defRPr b="1" spc="216" sz="1300">
                <a:solidFill>
                  <a:srgbClr val="5F5F5F"/>
                </a:solidFill>
              </a:defRPr>
            </a:lvl1pPr>
          </a:lstStyle>
          <a:p>
            <a:pPr/>
            <a:r>
              <a:t>ВИДИ ВИКОНАНИХ ПЕРЕВІРОК</a:t>
            </a:r>
          </a:p>
        </p:txBody>
      </p:sp>
      <p:sp>
        <p:nvSpPr>
          <p:cNvPr id="379" name="Shape 10"/>
          <p:cNvSpPr/>
          <p:nvPr/>
        </p:nvSpPr>
        <p:spPr>
          <a:xfrm>
            <a:off x="4494753" y="2338084"/>
            <a:ext cx="7315201" cy="713236"/>
          </a:xfrm>
          <a:prstGeom prst="roundRect">
            <a:avLst>
              <a:gd name="adj" fmla="val 10256"/>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80" name="Shape 11"/>
          <p:cNvSpPr/>
          <p:nvPr/>
        </p:nvSpPr>
        <p:spPr>
          <a:xfrm>
            <a:off x="4677633" y="2502674"/>
            <a:ext cx="384055" cy="384055"/>
          </a:xfrm>
          <a:prstGeom prst="ellipse">
            <a:avLst/>
          </a:prstGeom>
          <a:solidFill>
            <a:srgbClr val="F4EEFF"/>
          </a:solidFill>
          <a:ln w="12700">
            <a:miter lim="400000"/>
          </a:ln>
        </p:spPr>
        <p:txBody>
          <a:bodyPr lIns="45718" tIns="45718" rIns="45718" bIns="45718"/>
          <a:lstStyle/>
          <a:p>
            <a:pPr/>
          </a:p>
        </p:txBody>
      </p:sp>
      <p:pic>
        <p:nvPicPr>
          <p:cNvPr id="381" name="Image 3" descr="Image 3"/>
          <p:cNvPicPr>
            <a:picLocks noChangeAspect="1"/>
          </p:cNvPicPr>
          <p:nvPr/>
        </p:nvPicPr>
        <p:blipFill>
          <a:blip r:embed="rId3">
            <a:extLst/>
          </a:blip>
          <a:stretch>
            <a:fillRect/>
          </a:stretch>
        </p:blipFill>
        <p:spPr>
          <a:xfrm>
            <a:off x="4750784" y="2575829"/>
            <a:ext cx="237748" cy="237748"/>
          </a:xfrm>
          <a:prstGeom prst="rect">
            <a:avLst/>
          </a:prstGeom>
          <a:ln w="12700">
            <a:miter lim="400000"/>
          </a:ln>
        </p:spPr>
      </p:pic>
      <p:sp>
        <p:nvSpPr>
          <p:cNvPr id="382" name="Text 12"/>
          <p:cNvSpPr txBox="1"/>
          <p:nvPr/>
        </p:nvSpPr>
        <p:spPr>
          <a:xfrm>
            <a:off x="5226274" y="2600021"/>
            <a:ext cx="640080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262626"/>
                </a:solidFill>
              </a:defRPr>
            </a:pPr>
            <a:r>
              <a:t>Функціональне тестування   </a:t>
            </a:r>
            <a:r>
              <a:rPr b="0">
                <a:solidFill>
                  <a:srgbClr val="5F5F5F"/>
                </a:solidFill>
              </a:rPr>
              <a:t>— Перевірка коректності кожної функції системи</a:t>
            </a:r>
          </a:p>
        </p:txBody>
      </p:sp>
      <p:sp>
        <p:nvSpPr>
          <p:cNvPr id="383" name="Shape 13"/>
          <p:cNvSpPr/>
          <p:nvPr/>
        </p:nvSpPr>
        <p:spPr>
          <a:xfrm>
            <a:off x="4494753" y="3161045"/>
            <a:ext cx="7315201" cy="713236"/>
          </a:xfrm>
          <a:prstGeom prst="roundRect">
            <a:avLst>
              <a:gd name="adj" fmla="val 10256"/>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84" name="Shape 14"/>
          <p:cNvSpPr/>
          <p:nvPr/>
        </p:nvSpPr>
        <p:spPr>
          <a:xfrm>
            <a:off x="4677633" y="3325634"/>
            <a:ext cx="384055" cy="384055"/>
          </a:xfrm>
          <a:prstGeom prst="ellipse">
            <a:avLst/>
          </a:prstGeom>
          <a:solidFill>
            <a:srgbClr val="F4EEFF"/>
          </a:solidFill>
          <a:ln w="12700">
            <a:miter lim="400000"/>
          </a:ln>
        </p:spPr>
        <p:txBody>
          <a:bodyPr lIns="45718" tIns="45718" rIns="45718" bIns="45718"/>
          <a:lstStyle/>
          <a:p>
            <a:pPr/>
          </a:p>
        </p:txBody>
      </p:sp>
      <p:pic>
        <p:nvPicPr>
          <p:cNvPr id="385" name="Image 4" descr="Image 4"/>
          <p:cNvPicPr>
            <a:picLocks noChangeAspect="1"/>
          </p:cNvPicPr>
          <p:nvPr/>
        </p:nvPicPr>
        <p:blipFill>
          <a:blip r:embed="rId4">
            <a:extLst/>
          </a:blip>
          <a:stretch>
            <a:fillRect/>
          </a:stretch>
        </p:blipFill>
        <p:spPr>
          <a:xfrm>
            <a:off x="4750784" y="3398789"/>
            <a:ext cx="237748" cy="237748"/>
          </a:xfrm>
          <a:prstGeom prst="rect">
            <a:avLst/>
          </a:prstGeom>
          <a:ln w="12700">
            <a:miter lim="400000"/>
          </a:ln>
        </p:spPr>
      </p:pic>
      <p:sp>
        <p:nvSpPr>
          <p:cNvPr id="386" name="Text 15"/>
          <p:cNvSpPr txBox="1"/>
          <p:nvPr/>
        </p:nvSpPr>
        <p:spPr>
          <a:xfrm>
            <a:off x="5226274" y="3422979"/>
            <a:ext cx="640080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262626"/>
                </a:solidFill>
              </a:defRPr>
            </a:pPr>
            <a:r>
              <a:t>Валідація даних   </a:t>
            </a:r>
            <a:r>
              <a:rPr b="0">
                <a:solidFill>
                  <a:srgbClr val="5F5F5F"/>
                </a:solidFill>
              </a:rPr>
              <a:t>— Реакція на коректні та некоректні вхідні дані</a:t>
            </a:r>
          </a:p>
        </p:txBody>
      </p:sp>
      <p:sp>
        <p:nvSpPr>
          <p:cNvPr id="387" name="Shape 16"/>
          <p:cNvSpPr/>
          <p:nvPr/>
        </p:nvSpPr>
        <p:spPr>
          <a:xfrm>
            <a:off x="4494753" y="3984004"/>
            <a:ext cx="7315201" cy="713236"/>
          </a:xfrm>
          <a:prstGeom prst="roundRect">
            <a:avLst>
              <a:gd name="adj" fmla="val 10256"/>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88" name="Shape 17"/>
          <p:cNvSpPr/>
          <p:nvPr/>
        </p:nvSpPr>
        <p:spPr>
          <a:xfrm>
            <a:off x="4677633" y="4148594"/>
            <a:ext cx="384055" cy="384055"/>
          </a:xfrm>
          <a:prstGeom prst="ellipse">
            <a:avLst/>
          </a:prstGeom>
          <a:solidFill>
            <a:srgbClr val="F4EEFF"/>
          </a:solidFill>
          <a:ln w="12700">
            <a:miter lim="400000"/>
          </a:ln>
        </p:spPr>
        <p:txBody>
          <a:bodyPr lIns="45718" tIns="45718" rIns="45718" bIns="45718"/>
          <a:lstStyle/>
          <a:p>
            <a:pPr/>
          </a:p>
        </p:txBody>
      </p:sp>
      <p:pic>
        <p:nvPicPr>
          <p:cNvPr id="389" name="Image 5" descr="Image 5"/>
          <p:cNvPicPr>
            <a:picLocks noChangeAspect="1"/>
          </p:cNvPicPr>
          <p:nvPr/>
        </p:nvPicPr>
        <p:blipFill>
          <a:blip r:embed="rId5">
            <a:extLst/>
          </a:blip>
          <a:stretch>
            <a:fillRect/>
          </a:stretch>
        </p:blipFill>
        <p:spPr>
          <a:xfrm>
            <a:off x="4750784" y="4221748"/>
            <a:ext cx="237748" cy="237748"/>
          </a:xfrm>
          <a:prstGeom prst="rect">
            <a:avLst/>
          </a:prstGeom>
          <a:ln w="12700">
            <a:miter lim="400000"/>
          </a:ln>
        </p:spPr>
      </p:pic>
      <p:sp>
        <p:nvSpPr>
          <p:cNvPr id="390" name="Text 18"/>
          <p:cNvSpPr txBox="1"/>
          <p:nvPr/>
        </p:nvSpPr>
        <p:spPr>
          <a:xfrm>
            <a:off x="5226274" y="4245939"/>
            <a:ext cx="640080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262626"/>
                </a:solidFill>
              </a:defRPr>
            </a:pPr>
            <a:r>
              <a:t>Розмежування доступу   </a:t>
            </a:r>
            <a:r>
              <a:rPr b="0">
                <a:solidFill>
                  <a:srgbClr val="5F5F5F"/>
                </a:solidFill>
              </a:rPr>
              <a:t>— Недоступність функцій для невідповідних ролей</a:t>
            </a:r>
          </a:p>
        </p:txBody>
      </p:sp>
      <p:sp>
        <p:nvSpPr>
          <p:cNvPr id="391" name="Shape 19"/>
          <p:cNvSpPr/>
          <p:nvPr/>
        </p:nvSpPr>
        <p:spPr>
          <a:xfrm>
            <a:off x="4494753" y="4806963"/>
            <a:ext cx="7315201" cy="713236"/>
          </a:xfrm>
          <a:prstGeom prst="roundRect">
            <a:avLst>
              <a:gd name="adj" fmla="val 10256"/>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92" name="Shape 20"/>
          <p:cNvSpPr/>
          <p:nvPr/>
        </p:nvSpPr>
        <p:spPr>
          <a:xfrm>
            <a:off x="4677633" y="4971557"/>
            <a:ext cx="384055" cy="384051"/>
          </a:xfrm>
          <a:prstGeom prst="ellipse">
            <a:avLst/>
          </a:prstGeom>
          <a:solidFill>
            <a:srgbClr val="F4EEFF"/>
          </a:solidFill>
          <a:ln w="12700">
            <a:miter lim="400000"/>
          </a:ln>
        </p:spPr>
        <p:txBody>
          <a:bodyPr lIns="45718" tIns="45718" rIns="45718" bIns="45718"/>
          <a:lstStyle/>
          <a:p>
            <a:pPr/>
          </a:p>
        </p:txBody>
      </p:sp>
      <p:pic>
        <p:nvPicPr>
          <p:cNvPr id="393" name="Image 6" descr="Image 6"/>
          <p:cNvPicPr>
            <a:picLocks noChangeAspect="1"/>
          </p:cNvPicPr>
          <p:nvPr/>
        </p:nvPicPr>
        <p:blipFill>
          <a:blip r:embed="rId6">
            <a:extLst/>
          </a:blip>
          <a:stretch>
            <a:fillRect/>
          </a:stretch>
        </p:blipFill>
        <p:spPr>
          <a:xfrm>
            <a:off x="4750784" y="5044707"/>
            <a:ext cx="237748" cy="237748"/>
          </a:xfrm>
          <a:prstGeom prst="rect">
            <a:avLst/>
          </a:prstGeom>
          <a:ln w="12700">
            <a:miter lim="400000"/>
          </a:ln>
        </p:spPr>
      </p:pic>
      <p:sp>
        <p:nvSpPr>
          <p:cNvPr id="394" name="Text 21"/>
          <p:cNvSpPr txBox="1"/>
          <p:nvPr/>
        </p:nvSpPr>
        <p:spPr>
          <a:xfrm>
            <a:off x="5226274" y="5068900"/>
            <a:ext cx="640080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262626"/>
                </a:solidFill>
              </a:defRPr>
            </a:pPr>
            <a:r>
              <a:t>Сумісність та адаптивність   </a:t>
            </a:r>
            <a:r>
              <a:rPr b="0">
                <a:solidFill>
                  <a:srgbClr val="5F5F5F"/>
                </a:solidFill>
              </a:rPr>
              <a:t>— Chrome, Firefox, Edge та різні розміри екранів</a:t>
            </a:r>
          </a:p>
        </p:txBody>
      </p:sp>
      <p:sp>
        <p:nvSpPr>
          <p:cNvPr id="395" name="Shape 22"/>
          <p:cNvSpPr/>
          <p:nvPr/>
        </p:nvSpPr>
        <p:spPr>
          <a:xfrm>
            <a:off x="4494753" y="5629924"/>
            <a:ext cx="7315201" cy="713236"/>
          </a:xfrm>
          <a:prstGeom prst="roundRect">
            <a:avLst>
              <a:gd name="adj" fmla="val 10256"/>
            </a:avLst>
          </a:prstGeom>
          <a:solidFill>
            <a:srgbClr val="FFFFFF"/>
          </a:solidFill>
          <a:ln w="12700">
            <a:miter lim="400000"/>
          </a:ln>
          <a:effectLst>
            <a:outerShdw sx="100000" sy="100000" kx="0" ky="0" algn="b" rotWithShape="0" blurRad="114300" dist="38100" dir="5400000">
              <a:srgbClr val="5B4A8A">
                <a:alpha val="18000"/>
              </a:srgbClr>
            </a:outerShdw>
          </a:effectLst>
        </p:spPr>
        <p:txBody>
          <a:bodyPr lIns="45718" tIns="45718" rIns="45718" bIns="45718"/>
          <a:lstStyle/>
          <a:p>
            <a:pPr/>
          </a:p>
        </p:txBody>
      </p:sp>
      <p:sp>
        <p:nvSpPr>
          <p:cNvPr id="396" name="Shape 23"/>
          <p:cNvSpPr/>
          <p:nvPr/>
        </p:nvSpPr>
        <p:spPr>
          <a:xfrm>
            <a:off x="4677633" y="5794516"/>
            <a:ext cx="384055" cy="384055"/>
          </a:xfrm>
          <a:prstGeom prst="ellipse">
            <a:avLst/>
          </a:prstGeom>
          <a:solidFill>
            <a:srgbClr val="F4EEFF"/>
          </a:solidFill>
          <a:ln w="12700">
            <a:miter lim="400000"/>
          </a:ln>
        </p:spPr>
        <p:txBody>
          <a:bodyPr lIns="45718" tIns="45718" rIns="45718" bIns="45718"/>
          <a:lstStyle/>
          <a:p>
            <a:pPr/>
          </a:p>
        </p:txBody>
      </p:sp>
      <p:pic>
        <p:nvPicPr>
          <p:cNvPr id="397" name="Image 7" descr="Image 7"/>
          <p:cNvPicPr>
            <a:picLocks noChangeAspect="1"/>
          </p:cNvPicPr>
          <p:nvPr/>
        </p:nvPicPr>
        <p:blipFill>
          <a:blip r:embed="rId7">
            <a:extLst/>
          </a:blip>
          <a:stretch>
            <a:fillRect/>
          </a:stretch>
        </p:blipFill>
        <p:spPr>
          <a:xfrm>
            <a:off x="4750784" y="5867667"/>
            <a:ext cx="237748" cy="237748"/>
          </a:xfrm>
          <a:prstGeom prst="rect">
            <a:avLst/>
          </a:prstGeom>
          <a:ln w="12700">
            <a:miter lim="400000"/>
          </a:ln>
        </p:spPr>
      </p:pic>
      <p:sp>
        <p:nvSpPr>
          <p:cNvPr id="398" name="Text 24"/>
          <p:cNvSpPr txBox="1"/>
          <p:nvPr/>
        </p:nvSpPr>
        <p:spPr>
          <a:xfrm>
            <a:off x="5226274" y="5891860"/>
            <a:ext cx="6400802" cy="18935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262626"/>
                </a:solidFill>
              </a:defRPr>
            </a:pPr>
            <a:r>
              <a:t>Тестування REST API   </a:t>
            </a:r>
            <a:r>
              <a:rPr b="0">
                <a:solidFill>
                  <a:srgbClr val="5F5F5F"/>
                </a:solidFill>
              </a:rPr>
              <a:t>— Перевірка відповідей за допомогою Postman</a:t>
            </a:r>
          </a:p>
        </p:txBody>
      </p:sp>
      <p:sp>
        <p:nvSpPr>
          <p:cNvPr id="399" name="Shape 4"/>
          <p:cNvSpPr/>
          <p:nvPr/>
        </p:nvSpPr>
        <p:spPr>
          <a:xfrm>
            <a:off x="588580" y="2343268"/>
            <a:ext cx="3657606" cy="3994709"/>
          </a:xfrm>
          <a:prstGeom prst="roundRect">
            <a:avLst>
              <a:gd name="adj" fmla="val 3000"/>
            </a:avLst>
          </a:prstGeom>
          <a:solidFill>
            <a:srgbClr val="2E1A47"/>
          </a:solidFill>
          <a:ln w="12700">
            <a:miter lim="400000"/>
          </a:ln>
          <a:effectLst>
            <a:outerShdw sx="100000" sy="100000" kx="0" ky="0" algn="b" rotWithShape="0" blurRad="127000" dist="38100" dir="5400000">
              <a:srgbClr val="000000">
                <a:alpha val="28000"/>
              </a:srgbClr>
            </a:outerShdw>
          </a:effectLst>
        </p:spPr>
        <p:txBody>
          <a:bodyPr lIns="45718" tIns="45718" rIns="45718" bIns="45718"/>
          <a:lstStyle/>
          <a:p>
            <a:pPr/>
          </a:p>
        </p:txBody>
      </p:sp>
      <p:sp>
        <p:nvSpPr>
          <p:cNvPr id="400" name="Shape 5"/>
          <p:cNvSpPr/>
          <p:nvPr/>
        </p:nvSpPr>
        <p:spPr>
          <a:xfrm>
            <a:off x="1960182" y="2709028"/>
            <a:ext cx="914407" cy="914407"/>
          </a:xfrm>
          <a:prstGeom prst="ellipse">
            <a:avLst/>
          </a:prstGeom>
          <a:solidFill>
            <a:srgbClr val="8456F0"/>
          </a:solidFill>
          <a:ln w="12700">
            <a:miter lim="400000"/>
          </a:ln>
        </p:spPr>
        <p:txBody>
          <a:bodyPr lIns="45718" tIns="45718" rIns="45718" bIns="45718"/>
          <a:lstStyle/>
          <a:p>
            <a:pPr/>
          </a:p>
        </p:txBody>
      </p:sp>
      <p:pic>
        <p:nvPicPr>
          <p:cNvPr id="401" name="Image 2" descr="Image 2"/>
          <p:cNvPicPr>
            <a:picLocks noChangeAspect="1"/>
          </p:cNvPicPr>
          <p:nvPr/>
        </p:nvPicPr>
        <p:blipFill>
          <a:blip r:embed="rId8">
            <a:extLst/>
          </a:blip>
          <a:stretch>
            <a:fillRect/>
          </a:stretch>
        </p:blipFill>
        <p:spPr>
          <a:xfrm>
            <a:off x="2188782" y="2937628"/>
            <a:ext cx="457204" cy="457204"/>
          </a:xfrm>
          <a:prstGeom prst="rect">
            <a:avLst/>
          </a:prstGeom>
          <a:ln w="12700">
            <a:miter lim="400000"/>
          </a:ln>
        </p:spPr>
      </p:pic>
      <p:sp>
        <p:nvSpPr>
          <p:cNvPr id="402" name="Text 6"/>
          <p:cNvSpPr txBox="1"/>
          <p:nvPr/>
        </p:nvSpPr>
        <p:spPr>
          <a:xfrm>
            <a:off x="771462" y="3844892"/>
            <a:ext cx="3291841" cy="6543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5200">
                <a:solidFill>
                  <a:srgbClr val="FF9D5C"/>
                </a:solidFill>
              </a:defRPr>
            </a:lvl1pPr>
          </a:lstStyle>
          <a:p>
            <a:pPr/>
            <a:r>
              <a:t>16 / 16</a:t>
            </a:r>
          </a:p>
        </p:txBody>
      </p:sp>
      <p:sp>
        <p:nvSpPr>
          <p:cNvPr id="403" name="Text 7"/>
          <p:cNvSpPr txBox="1"/>
          <p:nvPr/>
        </p:nvSpPr>
        <p:spPr>
          <a:xfrm>
            <a:off x="771462" y="4707571"/>
            <a:ext cx="329184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FFFFF"/>
                </a:solidFill>
              </a:defRPr>
            </a:lvl1pPr>
          </a:lstStyle>
          <a:p>
            <a:pPr/>
            <a:r>
              <a:t>тест-кейсів пройдено</a:t>
            </a:r>
          </a:p>
        </p:txBody>
      </p:sp>
      <p:sp>
        <p:nvSpPr>
          <p:cNvPr id="404" name="Text 8"/>
          <p:cNvSpPr txBox="1"/>
          <p:nvPr/>
        </p:nvSpPr>
        <p:spPr>
          <a:xfrm>
            <a:off x="954342" y="5237704"/>
            <a:ext cx="2926084" cy="70336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115000"/>
              </a:lnSpc>
              <a:defRPr sz="1400">
                <a:solidFill>
                  <a:srgbClr val="D7CBF2"/>
                </a:solidFill>
              </a:defRPr>
            </a:lvl1pPr>
          </a:lstStyle>
          <a:p>
            <a:pPr/>
            <a:r>
              <a:t>Ручне функціональне тестування за методом «чорної скриньки» за підготовленими тест-кейсами.</a:t>
            </a:r>
          </a:p>
        </p:txBody>
      </p:sp>
      <p:sp>
        <p:nvSpPr>
          <p:cNvPr id="405"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12</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07" name="Image 0" descr="Image 0"/>
          <p:cNvPicPr>
            <a:picLocks noChangeAspect="1"/>
          </p:cNvPicPr>
          <p:nvPr/>
        </p:nvPicPr>
        <p:blipFill>
          <a:blip r:embed="rId2">
            <a:extLst/>
          </a:blip>
          <a:stretch>
            <a:fillRect/>
          </a:stretch>
        </p:blipFill>
        <p:spPr>
          <a:xfrm>
            <a:off x="777240" y="502919"/>
            <a:ext cx="329188" cy="329188"/>
          </a:xfrm>
          <a:prstGeom prst="rect">
            <a:avLst/>
          </a:prstGeom>
          <a:ln w="12700">
            <a:miter lim="400000"/>
          </a:ln>
        </p:spPr>
      </p:pic>
      <p:sp>
        <p:nvSpPr>
          <p:cNvPr id="408" name="Text 0"/>
          <p:cNvSpPr txBox="1"/>
          <p:nvPr/>
        </p:nvSpPr>
        <p:spPr>
          <a:xfrm>
            <a:off x="1252727" y="505697"/>
            <a:ext cx="10515601" cy="3236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1F1F"/>
                </a:solidFill>
              </a:defRPr>
            </a:lvl1pPr>
          </a:lstStyle>
          <a:p>
            <a:pPr/>
            <a:r>
              <a:t>Висновки</a:t>
            </a:r>
          </a:p>
        </p:txBody>
      </p:sp>
      <p:sp>
        <p:nvSpPr>
          <p:cNvPr id="409" name="Shape 1"/>
          <p:cNvSpPr/>
          <p:nvPr/>
        </p:nvSpPr>
        <p:spPr>
          <a:xfrm>
            <a:off x="777240" y="1078991"/>
            <a:ext cx="10634472" cy="1"/>
          </a:xfrm>
          <a:prstGeom prst="line">
            <a:avLst/>
          </a:prstGeom>
          <a:ln w="12700">
            <a:solidFill>
              <a:srgbClr val="E6E0F5"/>
            </a:solidFill>
          </a:ln>
        </p:spPr>
        <p:txBody>
          <a:bodyPr lIns="45718" tIns="45718" rIns="45718" bIns="45718"/>
          <a:lstStyle/>
          <a:p>
            <a:pPr/>
          </a:p>
        </p:txBody>
      </p:sp>
      <p:sp>
        <p:nvSpPr>
          <p:cNvPr id="410" name="Text 3"/>
          <p:cNvSpPr txBox="1"/>
          <p:nvPr/>
        </p:nvSpPr>
        <p:spPr>
          <a:xfrm>
            <a:off x="838198" y="1243452"/>
            <a:ext cx="10515604" cy="88388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nSpc>
                <a:spcPct val="117999"/>
              </a:lnSpc>
              <a:defRPr sz="1600">
                <a:solidFill>
                  <a:srgbClr val="1F1F1F"/>
                </a:solidFill>
              </a:defRPr>
            </a:lvl1pPr>
          </a:lstStyle>
          <a:p>
            <a:pPr/>
            <a:r>
              <a:t>У результаті виконання кваліфікаційної роботи розроблено повнофункціональну веб-платформу для адопції тварин з притулків, яка забезпечує зручну взаємодію між користувачами та притулками й централізовано зберігає інформацію. Поставлену мету досягнуто в повному обсязі, а всі визначені завдання виконано.</a:t>
            </a:r>
          </a:p>
        </p:txBody>
      </p:sp>
      <p:pic>
        <p:nvPicPr>
          <p:cNvPr id="411" name="Image 1" descr="Image 1"/>
          <p:cNvPicPr>
            <a:picLocks noChangeAspect="1"/>
          </p:cNvPicPr>
          <p:nvPr/>
        </p:nvPicPr>
        <p:blipFill>
          <a:blip r:embed="rId3">
            <a:extLst/>
          </a:blip>
          <a:stretch>
            <a:fillRect/>
          </a:stretch>
        </p:blipFill>
        <p:spPr>
          <a:xfrm>
            <a:off x="806476" y="2920438"/>
            <a:ext cx="329188" cy="329188"/>
          </a:xfrm>
          <a:prstGeom prst="rect">
            <a:avLst/>
          </a:prstGeom>
          <a:ln w="12700">
            <a:miter lim="400000"/>
          </a:ln>
        </p:spPr>
      </p:pic>
      <p:sp>
        <p:nvSpPr>
          <p:cNvPr id="412" name="Text 4"/>
          <p:cNvSpPr txBox="1"/>
          <p:nvPr/>
        </p:nvSpPr>
        <p:spPr>
          <a:xfrm>
            <a:off x="1281962" y="2889014"/>
            <a:ext cx="4846327"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1F1F"/>
                </a:solidFill>
              </a:defRPr>
            </a:lvl1pPr>
          </a:lstStyle>
          <a:p>
            <a:pPr/>
            <a:r>
              <a:t>Повнофункціональна система</a:t>
            </a:r>
          </a:p>
        </p:txBody>
      </p:sp>
      <p:sp>
        <p:nvSpPr>
          <p:cNvPr id="413" name="Text 5"/>
          <p:cNvSpPr txBox="1"/>
          <p:nvPr/>
        </p:nvSpPr>
        <p:spPr>
          <a:xfrm>
            <a:off x="1281962" y="3270813"/>
            <a:ext cx="4892047" cy="4331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8000"/>
              </a:lnSpc>
              <a:defRPr sz="1400">
                <a:solidFill>
                  <a:srgbClr val="5E5E5E"/>
                </a:solidFill>
              </a:defRPr>
            </a:lvl1pPr>
          </a:lstStyle>
          <a:p>
            <a:pPr/>
            <a:r>
              <a:t>Реалізовано клієнтську та серверну частини з усім передбаченим функціоналом і протестовано їх роботу</a:t>
            </a:r>
          </a:p>
        </p:txBody>
      </p:sp>
      <p:pic>
        <p:nvPicPr>
          <p:cNvPr id="414" name="Image 2" descr="Image 2"/>
          <p:cNvPicPr>
            <a:picLocks noChangeAspect="1"/>
          </p:cNvPicPr>
          <p:nvPr/>
        </p:nvPicPr>
        <p:blipFill>
          <a:blip r:embed="rId4">
            <a:extLst/>
          </a:blip>
          <a:stretch>
            <a:fillRect/>
          </a:stretch>
        </p:blipFill>
        <p:spPr>
          <a:xfrm>
            <a:off x="6247155" y="2920438"/>
            <a:ext cx="329188" cy="329188"/>
          </a:xfrm>
          <a:prstGeom prst="rect">
            <a:avLst/>
          </a:prstGeom>
          <a:ln w="12700">
            <a:miter lim="400000"/>
          </a:ln>
        </p:spPr>
      </p:pic>
      <p:sp>
        <p:nvSpPr>
          <p:cNvPr id="415" name="Text 6"/>
          <p:cNvSpPr txBox="1"/>
          <p:nvPr/>
        </p:nvSpPr>
        <p:spPr>
          <a:xfrm>
            <a:off x="6722643" y="2889014"/>
            <a:ext cx="4846326"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1F1F"/>
                </a:solidFill>
              </a:defRPr>
            </a:lvl1pPr>
          </a:lstStyle>
          <a:p>
            <a:pPr/>
            <a:r>
              <a:t>Безпека та надійність</a:t>
            </a:r>
          </a:p>
        </p:txBody>
      </p:sp>
      <p:sp>
        <p:nvSpPr>
          <p:cNvPr id="416" name="Text 7"/>
          <p:cNvSpPr txBox="1"/>
          <p:nvPr/>
        </p:nvSpPr>
        <p:spPr>
          <a:xfrm>
            <a:off x="6722643" y="3270813"/>
            <a:ext cx="4892046" cy="4331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8000"/>
              </a:lnSpc>
              <a:defRPr sz="1400">
                <a:solidFill>
                  <a:srgbClr val="5E5E5E"/>
                </a:solidFill>
              </a:defRPr>
            </a:lvl1pPr>
          </a:lstStyle>
          <a:p>
            <a:pPr/>
            <a:r>
              <a:t>Захищена аутентифікація, розмежування ролей і збереження цілісності даних за різних умов</a:t>
            </a:r>
          </a:p>
        </p:txBody>
      </p:sp>
      <p:pic>
        <p:nvPicPr>
          <p:cNvPr id="417" name="Image 3" descr="Image 3"/>
          <p:cNvPicPr>
            <a:picLocks noChangeAspect="1"/>
          </p:cNvPicPr>
          <p:nvPr/>
        </p:nvPicPr>
        <p:blipFill>
          <a:blip r:embed="rId5">
            <a:extLst/>
          </a:blip>
          <a:stretch>
            <a:fillRect/>
          </a:stretch>
        </p:blipFill>
        <p:spPr>
          <a:xfrm>
            <a:off x="797090" y="4531031"/>
            <a:ext cx="329188" cy="329187"/>
          </a:xfrm>
          <a:prstGeom prst="rect">
            <a:avLst/>
          </a:prstGeom>
          <a:ln w="12700">
            <a:miter lim="400000"/>
          </a:ln>
        </p:spPr>
      </p:pic>
      <p:sp>
        <p:nvSpPr>
          <p:cNvPr id="418" name="Text 8"/>
          <p:cNvSpPr txBox="1"/>
          <p:nvPr/>
        </p:nvSpPr>
        <p:spPr>
          <a:xfrm>
            <a:off x="1272576" y="4499607"/>
            <a:ext cx="4846326"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1F1F"/>
                </a:solidFill>
              </a:defRPr>
            </a:lvl1pPr>
          </a:lstStyle>
          <a:p>
            <a:pPr/>
            <a:r>
              <a:t>Зручність використання</a:t>
            </a:r>
          </a:p>
        </p:txBody>
      </p:sp>
      <p:sp>
        <p:nvSpPr>
          <p:cNvPr id="419" name="Text 9"/>
          <p:cNvSpPr txBox="1"/>
          <p:nvPr/>
        </p:nvSpPr>
        <p:spPr>
          <a:xfrm>
            <a:off x="1272576" y="4881405"/>
            <a:ext cx="4892047" cy="4331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8000"/>
              </a:lnSpc>
              <a:defRPr sz="1400">
                <a:solidFill>
                  <a:srgbClr val="5E5E5E"/>
                </a:solidFill>
              </a:defRPr>
            </a:lvl1pPr>
          </a:lstStyle>
          <a:p>
            <a:pPr/>
            <a:r>
              <a:t>Адаптивний інтерфейс дозволяє комфортно працювати на комп'ютерах, планшетах і смартфонах</a:t>
            </a:r>
          </a:p>
        </p:txBody>
      </p:sp>
      <p:pic>
        <p:nvPicPr>
          <p:cNvPr id="420" name="Image 4" descr="Image 4"/>
          <p:cNvPicPr>
            <a:picLocks noChangeAspect="1"/>
          </p:cNvPicPr>
          <p:nvPr/>
        </p:nvPicPr>
        <p:blipFill>
          <a:blip r:embed="rId6">
            <a:extLst/>
          </a:blip>
          <a:stretch>
            <a:fillRect/>
          </a:stretch>
        </p:blipFill>
        <p:spPr>
          <a:xfrm>
            <a:off x="6237770" y="4531031"/>
            <a:ext cx="329188" cy="329187"/>
          </a:xfrm>
          <a:prstGeom prst="rect">
            <a:avLst/>
          </a:prstGeom>
          <a:ln w="12700">
            <a:miter lim="400000"/>
          </a:ln>
        </p:spPr>
      </p:pic>
      <p:sp>
        <p:nvSpPr>
          <p:cNvPr id="421" name="Text 10"/>
          <p:cNvSpPr txBox="1"/>
          <p:nvPr/>
        </p:nvSpPr>
        <p:spPr>
          <a:xfrm>
            <a:off x="6713256" y="4499607"/>
            <a:ext cx="4846325"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1F1F"/>
                </a:solidFill>
              </a:defRPr>
            </a:lvl1pPr>
          </a:lstStyle>
          <a:p>
            <a:pPr/>
            <a:r>
              <a:t>Масштабованість</a:t>
            </a:r>
          </a:p>
        </p:txBody>
      </p:sp>
      <p:sp>
        <p:nvSpPr>
          <p:cNvPr id="422" name="Text 11"/>
          <p:cNvSpPr txBox="1"/>
          <p:nvPr/>
        </p:nvSpPr>
        <p:spPr>
          <a:xfrm>
            <a:off x="6713256" y="4881405"/>
            <a:ext cx="4892045" cy="4331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8000"/>
              </a:lnSpc>
              <a:defRPr sz="1400">
                <a:solidFill>
                  <a:srgbClr val="5E5E5E"/>
                </a:solidFill>
              </a:defRPr>
            </a:lvl1pPr>
          </a:lstStyle>
          <a:p>
            <a:pPr/>
            <a:r>
              <a:t>Сучасний стек і продумана архітектура забезпечують можливість подальшого розширення системи</a:t>
            </a:r>
          </a:p>
        </p:txBody>
      </p:sp>
      <p:sp>
        <p:nvSpPr>
          <p:cNvPr id="423" name="Text 2"/>
          <p:cNvSpPr txBox="1"/>
          <p:nvPr/>
        </p:nvSpPr>
        <p:spPr>
          <a:xfrm>
            <a:off x="11435315" y="6561332"/>
            <a:ext cx="5486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400">
                <a:solidFill>
                  <a:srgbClr val="9A9A9A"/>
                </a:solidFill>
              </a:defRPr>
            </a:lvl1pPr>
          </a:lstStyle>
          <a:p>
            <a:pPr/>
            <a:r>
              <a:t>13</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